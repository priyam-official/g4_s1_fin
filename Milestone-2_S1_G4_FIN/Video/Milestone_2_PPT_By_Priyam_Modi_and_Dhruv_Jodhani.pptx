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Helvetica Neue"/>
      <p:regular r:id="rId18"/>
      <p:bold r:id="rId19"/>
      <p:italic r:id="rId20"/>
      <p:boldItalic r:id="rId21"/>
    </p:embeddedFont>
    <p:embeddedFont>
      <p:font typeface="Helvetica Neue Ligh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italic.fntdata"/><Relationship Id="rId22" Type="http://schemas.openxmlformats.org/officeDocument/2006/relationships/font" Target="fonts/HelveticaNeueLight-regular.fntdata"/><Relationship Id="rId21" Type="http://schemas.openxmlformats.org/officeDocument/2006/relationships/font" Target="fonts/HelveticaNeue-boldItalic.fntdata"/><Relationship Id="rId24" Type="http://schemas.openxmlformats.org/officeDocument/2006/relationships/font" Target="fonts/HelveticaNeueLight-italic.fntdata"/><Relationship Id="rId23" Type="http://schemas.openxmlformats.org/officeDocument/2006/relationships/font" Target="fonts/HelveticaNeueLigh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HelveticaNeueLigh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HelveticaNeue-bold.fntdata"/><Relationship Id="rId18" Type="http://schemas.openxmlformats.org/officeDocument/2006/relationships/font" Target="fonts/HelveticaNeu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ef25773a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bef25773a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lt2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idx="1" type="body"/>
          </p:nvPr>
        </p:nvSpPr>
        <p:spPr>
          <a:xfrm>
            <a:off x="844150" y="4710224"/>
            <a:ext cx="10515601" cy="552037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848"/>
              </a:buClr>
              <a:buSzPts val="2000"/>
              <a:buFont typeface="Helvetica Neue Light"/>
              <a:buNone/>
              <a:defRPr b="0" i="0" sz="2000">
                <a:solidFill>
                  <a:srgbClr val="44484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 b="42109" l="31991" r="32034" t="42025"/>
          <a:stretch/>
        </p:blipFill>
        <p:spPr>
          <a:xfrm>
            <a:off x="7430948" y="751519"/>
            <a:ext cx="3928803" cy="133323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 txBox="1"/>
          <p:nvPr>
            <p:ph idx="2" type="body"/>
          </p:nvPr>
        </p:nvSpPr>
        <p:spPr>
          <a:xfrm>
            <a:off x="844150" y="3784993"/>
            <a:ext cx="10516000" cy="9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Helvetica Neue"/>
              <a:buNone/>
              <a:defRPr b="1" i="0" sz="4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74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  <a:defRPr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3" name="Google Shape;33;p4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7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59" name="Google Shape;59;p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0" name="Google Shape;60;p8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66" name="Google Shape;66;p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7" name="Google Shape;67;p9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3" name="Google Shape;73;p10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1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17" name="Google Shape;17;p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25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Relationship Id="rId5" Type="http://schemas.openxmlformats.org/officeDocument/2006/relationships/image" Target="../media/image15.png"/><Relationship Id="rId6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/>
        </p:nvSpPr>
        <p:spPr>
          <a:xfrm>
            <a:off x="290625" y="2161308"/>
            <a:ext cx="11707411" cy="45027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Modeling Value at Risk (VaR): A Probabilistic Factor-Based Framework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Milestone – 2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400" u="none" cap="none" strike="noStrike">
                <a:solidFill>
                  <a:srgbClr val="0054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Section 1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– 4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400" u="none" cap="none" strike="noStrike">
                <a:solidFill>
                  <a:srgbClr val="FF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400 : Fundamentals of Probability in Computing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66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4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: Priyam Modi (AU2440030)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4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Dhruv Jodhani (AU2440160)</a:t>
            </a:r>
            <a:endParaRPr b="1" i="0" sz="24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4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Helvetica Neue Light"/>
                <a:ea typeface="Helvetica Neue Light"/>
                <a:cs typeface="Helvetica Neue Light"/>
                <a:sym typeface="Helvetica Neue Light"/>
              </a:rPr>
              <a:t>Modeling Value at Risk (VaR) Using a Factor-Based Probabilistic Approach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1" name="Google Shape;91;p13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</a:pPr>
            <a:r>
              <a:rPr b="1" lang="en-IN"/>
              <a:t>Milestone 2 Focus:</a:t>
            </a:r>
            <a:endParaRPr/>
          </a:p>
          <a:p>
            <a:pPr indent="-355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/>
              <a:t> Formal probabilistic modelling</a:t>
            </a:r>
            <a:endParaRPr/>
          </a:p>
          <a:p>
            <a:pPr indent="-355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/>
              <a:t> Explicit random variable definition</a:t>
            </a:r>
            <a:endParaRPr/>
          </a:p>
          <a:p>
            <a:pPr indent="-355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/>
              <a:t> Distributional assumptions</a:t>
            </a:r>
            <a:endParaRPr/>
          </a:p>
          <a:p>
            <a:pPr indent="-355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/>
              <a:t> Analytical derivation of return distribution</a:t>
            </a:r>
            <a:endParaRPr/>
          </a:p>
          <a:p>
            <a:pPr indent="-355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/>
              <a:t> Monte Carlo simulation (PDF &amp; CDF intuition)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</a:pPr>
            <a:r>
              <a:rPr b="1" lang="en-IN"/>
              <a:t>Tools Used:</a:t>
            </a:r>
            <a:endParaRPr/>
          </a:p>
          <a:p>
            <a:pPr indent="-355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/>
              <a:t> Linear Regression</a:t>
            </a:r>
            <a:endParaRPr/>
          </a:p>
          <a:p>
            <a:pPr indent="-355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/>
              <a:t> Multivariate Normal Modelling</a:t>
            </a:r>
            <a:endParaRPr/>
          </a:p>
          <a:p>
            <a:pPr indent="-355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/>
              <a:t> Covariance Estimation</a:t>
            </a:r>
            <a:endParaRPr/>
          </a:p>
          <a:p>
            <a:pPr indent="-355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/>
              <a:t> Monte Carlo Simulation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/>
              <a:t>Definition of Random Variables</a:t>
            </a:r>
            <a:endParaRPr/>
          </a:p>
        </p:txBody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959" l="-231" r="0" t="-168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100" name="Google Shape;100;p1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type="title"/>
          </p:nvPr>
        </p:nvSpPr>
        <p:spPr>
          <a:xfrm>
            <a:off x="594303" y="266700"/>
            <a:ext cx="10515600" cy="966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/>
              <a:t>Distributional Assumptions</a:t>
            </a:r>
            <a:endParaRPr/>
          </a:p>
        </p:txBody>
      </p:sp>
      <p:sp>
        <p:nvSpPr>
          <p:cNvPr id="107" name="Google Shape;107;p15"/>
          <p:cNvSpPr txBox="1"/>
          <p:nvPr>
            <p:ph idx="1" type="body"/>
          </p:nvPr>
        </p:nvSpPr>
        <p:spPr>
          <a:xfrm>
            <a:off x="582427" y="1233055"/>
            <a:ext cx="10515600" cy="488723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31" r="0" t="-224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108" name="Google Shape;108;p1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109" name="Google Shape;109;p15"/>
          <p:cNvSpPr/>
          <p:nvPr/>
        </p:nvSpPr>
        <p:spPr>
          <a:xfrm>
            <a:off x="3161388" y="2436711"/>
            <a:ext cx="6287411" cy="75411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15439" l="0" r="0" t="-7560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/>
              <a:t>Linear Factor Model</a:t>
            </a:r>
            <a:endParaRPr/>
          </a:p>
        </p:txBody>
      </p:sp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-41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117" name="Google Shape;117;p1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title"/>
          </p:nvPr>
        </p:nvSpPr>
        <p:spPr>
          <a:xfrm>
            <a:off x="375325" y="0"/>
            <a:ext cx="11415600" cy="15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/>
              <a:t>Distribution of Portfolio Return</a:t>
            </a:r>
            <a:endParaRPr/>
          </a:p>
        </p:txBody>
      </p:sp>
      <p:sp>
        <p:nvSpPr>
          <p:cNvPr id="124" name="Google Shape;124;p1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125" name="Google Shape;125;p17"/>
          <p:cNvSpPr/>
          <p:nvPr/>
        </p:nvSpPr>
        <p:spPr>
          <a:xfrm>
            <a:off x="5333883" y="3695575"/>
            <a:ext cx="13229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4285584" y="1660317"/>
            <a:ext cx="3455241" cy="4616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973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4285584" y="2308874"/>
            <a:ext cx="3290837" cy="4616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133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4774915" y="2999627"/>
            <a:ext cx="2345835" cy="46685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94794" l="0" r="-28050" t="-12466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5171978" y="4308800"/>
            <a:ext cx="1822294" cy="46166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973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4758149" y="5379349"/>
            <a:ext cx="2818272" cy="46685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948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375325" y="0"/>
            <a:ext cx="114156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/>
              <a:t>Loss Distribution</a:t>
            </a:r>
            <a:endParaRPr/>
          </a:p>
        </p:txBody>
      </p:sp>
      <p:sp>
        <p:nvSpPr>
          <p:cNvPr id="137" name="Google Shape;137;p1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138" name="Google Shape;138;p18"/>
          <p:cNvSpPr/>
          <p:nvPr/>
        </p:nvSpPr>
        <p:spPr>
          <a:xfrm>
            <a:off x="5520200" y="2978712"/>
            <a:ext cx="117692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Where:</a:t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5271204" y="1358823"/>
            <a:ext cx="1623842" cy="4616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63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4935647" y="2203526"/>
            <a:ext cx="2346027" cy="46685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6882" l="0" r="-103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5306904" y="3785544"/>
            <a:ext cx="1730858" cy="46166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7893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5485670" y="4895509"/>
            <a:ext cx="1552092" cy="46685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519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>
            <p:ph type="title"/>
          </p:nvPr>
        </p:nvSpPr>
        <p:spPr>
          <a:xfrm>
            <a:off x="375325" y="0"/>
            <a:ext cx="114156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/>
              <a:t>Formal Definition of VaR</a:t>
            </a:r>
            <a:endParaRPr/>
          </a:p>
        </p:txBody>
      </p:sp>
      <p:sp>
        <p:nvSpPr>
          <p:cNvPr id="149" name="Google Shape;149;p1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150" name="Google Shape;150;p19"/>
          <p:cNvSpPr/>
          <p:nvPr/>
        </p:nvSpPr>
        <p:spPr>
          <a:xfrm>
            <a:off x="4676148" y="3893235"/>
            <a:ext cx="21547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Standardizing:</a:t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3422342" y="1319434"/>
            <a:ext cx="4662367" cy="4616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973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4070532" y="2229033"/>
            <a:ext cx="3365986" cy="46685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1052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4307648" y="3109048"/>
            <a:ext cx="2891754" cy="46903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29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4521543" y="4949349"/>
            <a:ext cx="3123163" cy="65921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375325" y="0"/>
            <a:ext cx="114156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/>
              <a:t>Closed-Form VaR</a:t>
            </a:r>
            <a:endParaRPr/>
          </a:p>
        </p:txBody>
      </p:sp>
      <p:sp>
        <p:nvSpPr>
          <p:cNvPr id="161" name="Google Shape;161;p2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162" name="Google Shape;162;p20"/>
          <p:cNvSpPr/>
          <p:nvPr/>
        </p:nvSpPr>
        <p:spPr>
          <a:xfrm>
            <a:off x="5426617" y="2116024"/>
            <a:ext cx="117692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Where:</a:t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5045019" y="2740197"/>
            <a:ext cx="2076209" cy="52322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2939" l="0" r="-4410" t="-1293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4691379" y="3458212"/>
            <a:ext cx="33169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 Normal CDF:</a:t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3174233" y="4309468"/>
            <a:ext cx="6351226" cy="102066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4464572" y="1181094"/>
            <a:ext cx="3237105" cy="53181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>
            <p:ph type="title"/>
          </p:nvPr>
        </p:nvSpPr>
        <p:spPr>
          <a:xfrm>
            <a:off x="375325" y="0"/>
            <a:ext cx="114156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/>
              <a:t>Probability Density Function of Loss</a:t>
            </a:r>
            <a:endParaRPr/>
          </a:p>
        </p:txBody>
      </p:sp>
      <p:sp>
        <p:nvSpPr>
          <p:cNvPr id="173" name="Google Shape;173;p21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174" name="Google Shape;174;p21"/>
          <p:cNvSpPr/>
          <p:nvPr/>
        </p:nvSpPr>
        <p:spPr>
          <a:xfrm>
            <a:off x="1831220" y="2111467"/>
            <a:ext cx="8184100" cy="146662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>
            <p:ph type="title"/>
          </p:nvPr>
        </p:nvSpPr>
        <p:spPr>
          <a:xfrm>
            <a:off x="375325" y="0"/>
            <a:ext cx="114156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/>
              <a:t>Cumulative Distribution Function</a:t>
            </a:r>
            <a:endParaRPr/>
          </a:p>
        </p:txBody>
      </p:sp>
      <p:sp>
        <p:nvSpPr>
          <p:cNvPr id="181" name="Google Shape;181;p22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  <p:sp>
        <p:nvSpPr>
          <p:cNvPr id="182" name="Google Shape;182;p22"/>
          <p:cNvSpPr/>
          <p:nvPr/>
        </p:nvSpPr>
        <p:spPr>
          <a:xfrm>
            <a:off x="3788946" y="1749706"/>
            <a:ext cx="4368632" cy="79502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3563916" y="2958556"/>
            <a:ext cx="4818691" cy="148784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IN"/>
              <a:t>Monte Carlo VaR and Final Interpretation</a:t>
            </a:r>
            <a:endParaRPr/>
          </a:p>
        </p:txBody>
      </p:sp>
      <p:sp>
        <p:nvSpPr>
          <p:cNvPr id="189" name="Google Shape;189;p23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3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</a:pPr>
            <a:r>
              <a:rPr lang="en-IN"/>
              <a:t> </a:t>
            </a:r>
            <a:endParaRPr/>
          </a:p>
        </p:txBody>
      </p:sp>
      <p:sp>
        <p:nvSpPr>
          <p:cNvPr id="190" name="Google Shape;190;p2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IN"/>
              <a:t>|</a:t>
            </a:r>
            <a:r>
              <a:rPr b="0" lang="en-IN"/>
              <a:t>  </a:t>
            </a:r>
            <a:fld id="{00000000-1234-1234-1234-123412341234}" type="slidenum">
              <a:rPr b="0" lang="en-IN"/>
              <a:t>‹#›</a:t>
            </a:fld>
            <a:endParaRPr b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 txBox="1"/>
          <p:nvPr>
            <p:ph type="title"/>
          </p:nvPr>
        </p:nvSpPr>
        <p:spPr>
          <a:xfrm>
            <a:off x="594300" y="266700"/>
            <a:ext cx="107757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Group Understanding</a:t>
            </a:r>
            <a:endParaRPr/>
          </a:p>
        </p:txBody>
      </p:sp>
      <p:sp>
        <p:nvSpPr>
          <p:cNvPr id="196" name="Google Shape;196;p24"/>
          <p:cNvSpPr txBox="1"/>
          <p:nvPr>
            <p:ph idx="1" type="body"/>
          </p:nvPr>
        </p:nvSpPr>
        <p:spPr>
          <a:xfrm>
            <a:off x="776575" y="1592400"/>
            <a:ext cx="14020800" cy="656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8150" lvl="0" marL="609600" rtl="0" algn="l">
              <a:lnSpc>
                <a:spcPct val="19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-IN" sz="2100"/>
              <a:t>Portfolio risk viewed as a probabilistic concept</a:t>
            </a:r>
            <a:endParaRPr sz="2100"/>
          </a:p>
          <a:p>
            <a:pPr indent="-438150" lvl="0" marL="6096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IN" sz="2100"/>
              <a:t>Returns and losses modeled as random variables</a:t>
            </a:r>
            <a:endParaRPr sz="2100"/>
          </a:p>
          <a:p>
            <a:pPr indent="-438150" lvl="0" marL="6096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IN" sz="2100"/>
              <a:t>Distributional assumptions enable analytical derivation</a:t>
            </a:r>
            <a:endParaRPr sz="2100"/>
          </a:p>
          <a:p>
            <a:pPr indent="-438150" lvl="0" marL="6096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IN" sz="2100"/>
              <a:t>VaR understood as the α-quantile of the loss distribution</a:t>
            </a:r>
            <a:endParaRPr sz="2100"/>
          </a:p>
          <a:p>
            <a:pPr indent="-438150" lvl="0" marL="6096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IN" sz="2100"/>
              <a:t>Closed-form VaR → Analytical and efficient</a:t>
            </a:r>
            <a:endParaRPr sz="2100"/>
          </a:p>
          <a:p>
            <a:pPr indent="-438150" lvl="0" marL="6096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IN" sz="2100"/>
              <a:t>Monte Carlo VaR → Flexible and simulation-based</a:t>
            </a:r>
            <a:endParaRPr sz="2100"/>
          </a:p>
          <a:p>
            <a:pPr indent="-438150" lvl="0" marL="6096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IN" sz="2100"/>
              <a:t>Trade-off between simplicity and realism</a:t>
            </a:r>
            <a:endParaRPr sz="2100"/>
          </a:p>
          <a:p>
            <a:pPr indent="0" lvl="0" marL="609600" rtl="0" algn="l">
              <a:lnSpc>
                <a:spcPct val="1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