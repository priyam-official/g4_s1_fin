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9" r:id="rId3"/>
    <p:sldId id="280" r:id="rId4"/>
    <p:sldId id="283" r:id="rId5"/>
    <p:sldId id="284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6" r:id="rId14"/>
    <p:sldId id="275" r:id="rId15"/>
    <p:sldId id="278" r:id="rId16"/>
    <p:sldId id="282" r:id="rId17"/>
    <p:sldId id="285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Helvetica Neue" panose="020B0604020202020204" charset="0"/>
      <p:regular r:id="rId24"/>
      <p:bold r:id="rId25"/>
      <p:italic r:id="rId26"/>
      <p:boldItalic r:id="rId27"/>
    </p:embeddedFont>
    <p:embeddedFont>
      <p:font typeface="Helvetica Neue Light" panose="020B0604020202020204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3nWBeewwp6FjhOJ8jYRb+UnHM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381E67-D018-4355-BFE7-A47452256B26}">
  <a:tblStyle styleId="{90381E67-D018-4355-BFE7-A47452256B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2c7b2baf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c2c7b2bafd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g3c2c7b2bafd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2c7b2baf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c2c7b2bafd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g3c2c7b2bafd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c7b2baf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c2c7b2bafd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3c2c7b2bafd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2c7b2bafd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c2c7b2bafd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c2c7b2bafd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2c7b2baf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3c2c7b2bafd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g3c2c7b2bafd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2c7b2baf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c2c7b2bafd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g3c2c7b2bafd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2c7b2bafd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c2c7b2bafd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g3c2c7b2bafd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2c7b2bafd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3c2c7b2bafd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g3c2c7b2bafd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844150" y="4710224"/>
            <a:ext cx="10515601" cy="552037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  <a:defRPr sz="2000" b="0" i="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l="31991" t="42025" r="32034" b="42109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  <a:defRPr sz="4400" b="1" i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7" name="Google Shape;27;p7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2" name="Google Shape;32;p6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3" name="Google Shape;33;p6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9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7" name="Google Shape;57;p1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8" name="Google Shape;58;p11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4" name="Google Shape;64;p1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2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1" name="Google Shape;71;p1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2" name="Google Shape;72;p13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7" name="Google Shape;77;p1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14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83" name="Google Shape;83;p1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1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1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17" name="Google Shape;17;p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muhammadahmad246/enhanced-stock-market-dataset?resource=downloa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822469" y="2236257"/>
            <a:ext cx="10616862" cy="432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Modeling Value at Risk (VaR</a:t>
            </a:r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): Deterministic Gaussian VAR Model</a:t>
            </a:r>
          </a:p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500" b="1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Coding Simulation and Implementation 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Milestone – 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800" b="1" dirty="0">
                <a:solidFill>
                  <a:srgbClr val="00542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Section 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Group – </a:t>
            </a:r>
            <a:r>
              <a:rPr 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4</a:t>
            </a:r>
            <a:endParaRPr lang="en-US" sz="28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800" b="1" dirty="0">
                <a:solidFill>
                  <a:srgbClr val="FF66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CSE 400 : Fundamentals of Probability in </a:t>
            </a:r>
            <a:r>
              <a:rPr lang="en-US" sz="2800" b="1" dirty="0" smtClean="0">
                <a:solidFill>
                  <a:srgbClr val="FF66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Computing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Prepared By : </a:t>
            </a:r>
            <a:r>
              <a:rPr lang="en-IN" sz="2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Priyam</a:t>
            </a: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Modi (AU2440030)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                  </a:t>
            </a:r>
            <a:r>
              <a:rPr lang="en-IN" sz="2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Masoom</a:t>
            </a: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lang="en-IN" sz="2800" b="1" dirty="0" err="1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Choksi</a:t>
            </a: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lang="en-IN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(AU2440263)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sz="28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94303" y="266701"/>
            <a:ext cx="10515600" cy="834312"/>
          </a:xfrm>
        </p:spPr>
        <p:txBody>
          <a:bodyPr anchor="ctr"/>
          <a:lstStyle/>
          <a:p>
            <a:pPr algn="ctr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Context and Motivation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427" y="1362269"/>
                <a:ext cx="10515600" cy="4758019"/>
              </a:xfrm>
            </p:spPr>
            <p:txBody>
              <a:bodyPr>
                <a:normAutofit fontScale="70000" lnSpcReduction="20000"/>
              </a:bodyPr>
              <a:lstStyle/>
              <a:p>
                <a:pPr marL="76200" indent="0">
                  <a:buNone/>
                </a:pPr>
                <a:r>
                  <a:rPr lang="en-IN" dirty="0" smtClean="0"/>
                  <a:t>	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Deterministic Gaussian </a:t>
                </a:r>
                <a:r>
                  <a:rPr lang="en-IN" sz="29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Model</a:t>
                </a:r>
              </a:p>
              <a:p>
                <a:pPr marL="76200" indent="0">
                  <a:buNone/>
                </a:pP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Domain: Financial Risk Management</a:t>
                </a:r>
              </a:p>
              <a:p>
                <a:pPr marL="76200" indent="0">
                  <a:buNone/>
                </a:pP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Why Uncertainty Exists 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n-IN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Asset returns fluctuate daily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n-IN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Portfolio loss is random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n-IN" sz="2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Risk must be quantified probabilistically</a:t>
                </a:r>
              </a:p>
              <a:p>
                <a:pPr marL="1028700" lvl="2" indent="0">
                  <a:buNone/>
                </a:pPr>
                <a:endParaRPr lang="en-IN" sz="21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28700" lvl="2" indent="0">
                  <a:buNone/>
                </a:pPr>
                <a:r>
                  <a:rPr lang="en-IN" sz="3200" b="1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Milestone 2: </a:t>
                </a:r>
              </a:p>
              <a:p>
                <a:pPr marL="1028700" lvl="2" indent="0">
                  <a:buNone/>
                </a:pPr>
                <a:r>
                  <a:rPr lang="en-IN" sz="3100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IN" sz="2400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1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31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3100" i="1">
                        <a:latin typeface="Cambria Math" panose="02040503050406030204" pitchFamily="18" charset="0"/>
                      </a:rPr>
                      <m:t>= − </m:t>
                    </m:r>
                    <m:sSub>
                      <m:sSubPr>
                        <m:ctrlPr>
                          <a:rPr lang="en-I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1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31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IN" sz="31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28700" lvl="2" indent="0">
                  <a:buNone/>
                </a:pPr>
                <a:r>
                  <a:rPr lang="en-IN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IN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</a:p>
              <a:p>
                <a:pPr marL="1028700" lvl="2" indent="0">
                  <a:buNone/>
                </a:pPr>
                <a:r>
                  <a:rPr lang="en-IN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IN" sz="3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31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1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31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3100" i="1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IN" sz="31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31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1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sz="3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IN" sz="3100" i="1">
                        <a:latin typeface="Cambria Math" panose="02040503050406030204" pitchFamily="18" charset="0"/>
                      </a:rPr>
                      <m:t> , </m:t>
                    </m:r>
                    <m:sSubSup>
                      <m:sSubSupPr>
                        <m:ctrlPr>
                          <a:rPr lang="en-IN" sz="31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31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sz="31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IN" sz="31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31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3100" dirty="0"/>
              </a:p>
              <a:p>
                <a:pPr marL="1028700" lvl="2" indent="0">
                  <a:buNone/>
                </a:pPr>
                <a:endParaRPr lang="en-IN" sz="2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28700" lvl="2" indent="0">
                  <a:buNone/>
                </a:pPr>
                <a:r>
                  <a:rPr lang="en-IN" sz="3200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Goal:</a:t>
                </a:r>
              </a:p>
              <a:p>
                <a:pPr marL="1028700" lvl="2" indent="0">
                  <a:buNone/>
                </a:pPr>
                <a:r>
                  <a:rPr lang="en-IN" sz="29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 maximum daily loss at 95% confidence. </a:t>
                </a:r>
              </a:p>
              <a:p>
                <a:pPr marL="76200" indent="0">
                  <a:buNone/>
                </a:pPr>
                <a:r>
                  <a:rPr lang="en-IN" sz="2900" dirty="0"/>
                  <a:t>	</a:t>
                </a:r>
              </a:p>
              <a:p>
                <a:pPr marL="7620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7" name="Tex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427" y="1362269"/>
                <a:ext cx="10515600" cy="475801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</a:t>
            </a:r>
            <a:r>
              <a:rPr lang="en-US" b="0" smtClean="0"/>
              <a:t>  </a:t>
            </a:r>
            <a:fld id="{00000000-1234-1234-1234-123412341234}" type="slidenum">
              <a:rPr lang="en-US" b="0" smtClean="0"/>
              <a:t>2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250579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102638"/>
            <a:ext cx="10515600" cy="709126"/>
          </a:xfrm>
        </p:spPr>
        <p:txBody>
          <a:bodyPr anchor="ctr"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 and Deterministic Baseline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427" y="811764"/>
                <a:ext cx="10515600" cy="530852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IN" b="1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</a:t>
                </a:r>
                <a:endParaRPr lang="en-IN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6200" indent="0">
                  <a:buNone/>
                </a:pPr>
                <a:r>
                  <a:rPr lang="en-IN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Implement full working simulation:</a:t>
                </a:r>
              </a:p>
              <a:p>
                <a:pPr marL="990600" lvl="1" indent="-457200">
                  <a:buFont typeface="+mj-lt"/>
                  <a:buAutoNum type="arabicPeriod"/>
                </a:pPr>
                <a:r>
                  <a:rPr lang="en-IN" sz="16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 data</a:t>
                </a:r>
              </a:p>
              <a:p>
                <a:pPr marL="990600" lvl="1" indent="-457200">
                  <a:buFont typeface="+mj-lt"/>
                  <a:buAutoNum type="arabicPeriod"/>
                </a:pPr>
                <a:r>
                  <a:rPr lang="en-IN" sz="16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 factor model</a:t>
                </a:r>
              </a:p>
              <a:p>
                <a:pPr marL="990600" lvl="1" indent="-457200">
                  <a:buFont typeface="+mj-lt"/>
                  <a:buAutoNum type="arabicPeriod"/>
                </a:pPr>
                <a:r>
                  <a:rPr lang="en-IN" sz="16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Derive loss distribution</a:t>
                </a:r>
              </a:p>
              <a:p>
                <a:pPr marL="990600" lvl="1" indent="-457200">
                  <a:buFont typeface="+mj-lt"/>
                  <a:buAutoNum type="arabicPeriod"/>
                </a:pPr>
                <a:r>
                  <a:rPr lang="en-IN" sz="16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closed – form </a:t>
                </a:r>
                <a:r>
                  <a:rPr lang="en-IN" sz="16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endParaRPr lang="en-IN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90600" lvl="1" indent="-457200">
                  <a:buFont typeface="+mj-lt"/>
                  <a:buAutoNum type="arabicPeriod"/>
                </a:pPr>
                <a:r>
                  <a:rPr lang="en-IN" sz="16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 deterministic </a:t>
                </a:r>
                <a:r>
                  <a:rPr lang="en-IN" sz="16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backtesting</a:t>
                </a:r>
                <a:endParaRPr lang="en-IN" sz="16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>
                  <a:buClr>
                    <a:srgbClr val="000000"/>
                  </a:buClr>
                </a:pPr>
                <a:r>
                  <a:rPr lang="en-IN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Deterministic Baseline Strategy</a:t>
                </a:r>
              </a:p>
              <a:p>
                <a:pPr lvl="1">
                  <a:buClr>
                    <a:srgbClr val="000000"/>
                  </a:buClr>
                  <a:buFont typeface="Wingdings" panose="05000000000000000000" pitchFamily="2" charset="2"/>
                  <a:buChar char="ü"/>
                </a:pPr>
                <a:r>
                  <a:rPr lang="en-IN" sz="16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portfolio weights</a:t>
                </a:r>
              </a:p>
              <a:p>
                <a:pPr lvl="1">
                  <a:buClr>
                    <a:srgbClr val="000000"/>
                  </a:buClr>
                  <a:buFont typeface="Wingdings" panose="05000000000000000000" pitchFamily="2" charset="2"/>
                  <a:buChar char="ü"/>
                </a:pPr>
                <a:r>
                  <a:rPr lang="en-IN" sz="16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factor exposures</a:t>
                </a:r>
              </a:p>
              <a:p>
                <a:pPr lvl="1">
                  <a:buClr>
                    <a:srgbClr val="000000"/>
                  </a:buClr>
                  <a:buFont typeface="Wingdings" panose="05000000000000000000" pitchFamily="2" charset="2"/>
                  <a:buChar char="ü"/>
                </a:pPr>
                <a:r>
                  <a:rPr lang="en-IN" sz="16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95% </a:t>
                </a:r>
                <a:r>
                  <a:rPr lang="en-IN" sz="16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IN" sz="16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threshold</a:t>
                </a:r>
              </a:p>
              <a:p>
                <a:pPr lvl="1">
                  <a:buClr>
                    <a:srgbClr val="000000"/>
                  </a:buClr>
                  <a:buFont typeface="Wingdings" panose="05000000000000000000" pitchFamily="2" charset="2"/>
                  <a:buChar char="ü"/>
                </a:pPr>
                <a:r>
                  <a:rPr lang="en-IN" sz="16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Exception if</a:t>
                </a:r>
                <a:r>
                  <a:rPr lang="en-IN" sz="1600" dirty="0" smtClean="0">
                    <a:solidFill>
                      <a:schemeClr val="tx1"/>
                    </a:solidFill>
                  </a:rPr>
                  <a:t>:  </a:t>
                </a:r>
              </a:p>
              <a:p>
                <a:pPr marL="1498600" lvl="3" indent="0">
                  <a:buClr>
                    <a:srgbClr val="000000"/>
                  </a:buClr>
                  <a:buNone/>
                </a:pPr>
                <a:r>
                  <a:rPr lang="en-IN" sz="1200" dirty="0">
                    <a:solidFill>
                      <a:schemeClr val="tx1"/>
                    </a:solidFill>
                  </a:rPr>
                  <a:t>	</a:t>
                </a:r>
                <a:r>
                  <a:rPr lang="en-IN" sz="12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000" i="1">
                        <a:latin typeface="Cambria Math" panose="02040503050406030204" pitchFamily="18" charset="0"/>
                      </a:rPr>
                      <m:t> &gt; 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0.95</m:t>
                        </m:r>
                      </m:sub>
                    </m:sSub>
                  </m:oMath>
                </a14:m>
                <a:endParaRPr lang="en-IN" sz="2000" dirty="0" smtClean="0"/>
              </a:p>
              <a:p>
                <a:pPr marL="1498600" lvl="3" indent="0">
                  <a:buClr>
                    <a:srgbClr val="000000"/>
                  </a:buClr>
                  <a:buNone/>
                </a:pPr>
                <a:endParaRPr lang="en-IN" sz="1200" dirty="0" smtClean="0">
                  <a:solidFill>
                    <a:schemeClr val="tx1"/>
                  </a:solidFill>
                </a:endParaRPr>
              </a:p>
              <a:p>
                <a:pPr marL="76200" lvl="0" indent="0">
                  <a:buClr>
                    <a:srgbClr val="000000"/>
                  </a:buClr>
                  <a:buNone/>
                </a:pPr>
                <a:r>
                  <a:rPr lang="en-IN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IN" sz="1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Monte Carlo in decision logic </a:t>
                </a:r>
              </a:p>
              <a:p>
                <a:pPr marL="76200" lvl="0" indent="0">
                  <a:buClr>
                    <a:srgbClr val="000000"/>
                  </a:buClr>
                  <a:buNone/>
                </a:pPr>
                <a:r>
                  <a:rPr lang="en-IN" sz="1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No adaptive thresholds.</a:t>
                </a:r>
              </a:p>
              <a:p>
                <a:pPr marL="76200" lvl="0" indent="0">
                  <a:buClr>
                    <a:srgbClr val="000000"/>
                  </a:buClr>
                  <a:buNone/>
                </a:pPr>
                <a:r>
                  <a:rPr lang="en-IN" sz="1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No randomness in rule</a:t>
                </a:r>
                <a:r>
                  <a:rPr lang="en-IN" sz="2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IN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498600" lvl="3" indent="0">
                  <a:buClr>
                    <a:srgbClr val="000000"/>
                  </a:buClr>
                  <a:buNone/>
                </a:pPr>
                <a:endParaRPr lang="en-IN" sz="1200" dirty="0" smtClean="0">
                  <a:solidFill>
                    <a:schemeClr val="tx1"/>
                  </a:solidFill>
                </a:endParaRPr>
              </a:p>
              <a:p>
                <a:pPr marL="990600" lvl="1" indent="-457200">
                  <a:buFont typeface="+mj-lt"/>
                  <a:buAutoNum type="arabicPeriod"/>
                </a:pPr>
                <a:endParaRPr lang="en-IN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427" y="811764"/>
                <a:ext cx="10515600" cy="5308525"/>
              </a:xfrm>
              <a:blipFill>
                <a:blip r:embed="rId2"/>
                <a:stretch>
                  <a:fillRect l="-232" t="-115" b="-6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</a:t>
            </a:r>
            <a:r>
              <a:rPr lang="en-US" b="0" smtClean="0"/>
              <a:t>  </a:t>
            </a:r>
            <a:fld id="{00000000-1234-1234-1234-123412341234}" type="slidenum">
              <a:rPr lang="en-US" b="0" smtClean="0"/>
              <a:t>3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237800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0"/>
            <a:ext cx="10515600" cy="647378"/>
          </a:xfrm>
        </p:spPr>
        <p:txBody>
          <a:bodyPr anchor="ctr">
            <a:normAutofit/>
          </a:bodyPr>
          <a:lstStyle/>
          <a:p>
            <a:pPr algn="ctr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System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427" y="811764"/>
            <a:ext cx="10515600" cy="5308525"/>
          </a:xfrm>
        </p:spPr>
        <p:txBody>
          <a:bodyPr>
            <a:normAutofit fontScale="55000" lnSpcReduction="20000"/>
          </a:bodyPr>
          <a:lstStyle/>
          <a:p>
            <a:r>
              <a:rPr lang="en-IN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Implementation</a:t>
            </a:r>
            <a:endParaRPr lang="en-IN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ctr">
              <a:buNone/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Data</a:t>
            </a: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 (80-20)</a:t>
            </a: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Construction</a:t>
            </a: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OLS Factor Regression</a:t>
            </a: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Decomposition</a:t>
            </a: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Distribution</a:t>
            </a: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Closed-Form </a:t>
            </a:r>
            <a:r>
              <a:rPr lang="en-IN" sz="3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endParaRPr lang="en-IN" sz="3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ctr">
              <a:buNone/>
            </a:pPr>
            <a:r>
              <a:rPr lang="en-IN" sz="3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marL="76200" indent="0" algn="ctr">
              <a:buNone/>
            </a:pPr>
            <a:r>
              <a:rPr lang="en-IN" sz="3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Backtesting</a:t>
            </a:r>
            <a:endParaRPr lang="en-IN" sz="3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IN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98600" lvl="3" indent="0">
              <a:buClr>
                <a:srgbClr val="000000"/>
              </a:buClr>
              <a:buNone/>
            </a:pPr>
            <a:endParaRPr lang="en-IN" sz="1200" dirty="0" smtClean="0">
              <a:solidFill>
                <a:schemeClr val="tx1"/>
              </a:solidFill>
            </a:endParaRPr>
          </a:p>
          <a:p>
            <a:pPr marL="990600" lvl="1" indent="-457200">
              <a:buFont typeface="+mj-lt"/>
              <a:buAutoNum type="arabicPeriod"/>
            </a:pP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</a:t>
            </a:r>
            <a:r>
              <a:rPr lang="en-US" b="0" smtClean="0"/>
              <a:t>  </a:t>
            </a:r>
            <a:fld id="{00000000-1234-1234-1234-123412341234}" type="slidenum">
              <a:rPr lang="en-US" b="0" smtClean="0"/>
              <a:t>4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100801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03" y="266701"/>
            <a:ext cx="10515600" cy="1020924"/>
          </a:xfrm>
        </p:spPr>
        <p:txBody>
          <a:bodyPr anchor="ctr">
            <a:normAutofit/>
          </a:bodyPr>
          <a:lstStyle/>
          <a:p>
            <a:pPr algn="ctr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System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427" y="1287625"/>
            <a:ext cx="10515600" cy="4832663"/>
          </a:xfrm>
        </p:spPr>
        <p:txBody>
          <a:bodyPr>
            <a:normAutofit/>
          </a:bodyPr>
          <a:lstStyle/>
          <a:p>
            <a:pPr marL="533400" lvl="1" indent="0">
              <a:buNone/>
            </a:pPr>
            <a:endParaRPr lang="en-IN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Clr>
                <a:srgbClr val="000000"/>
              </a:buClr>
              <a:buNone/>
            </a:pPr>
            <a:r>
              <a:rPr lang="en-IN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1200" dirty="0" smtClean="0">
              <a:solidFill>
                <a:schemeClr val="tx1"/>
              </a:solidFill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Uncertainty Enters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 return variability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noise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Test-period realized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losses</a:t>
            </a:r>
          </a:p>
          <a:p>
            <a:pPr marL="558800" lvl="1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lvl="1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rule remains deterministic.</a:t>
            </a:r>
          </a:p>
          <a:p>
            <a:pPr marL="990600" lvl="1" indent="-45720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</a:t>
            </a:r>
            <a:r>
              <a:rPr lang="en-US" b="0" smtClean="0"/>
              <a:t>  </a:t>
            </a:r>
            <a:fld id="{00000000-1234-1234-1234-123412341234}" type="slidenum">
              <a:rPr lang="en-US" b="0" smtClean="0"/>
              <a:t>5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58611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2c7b2bafd_0_2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6</a:t>
            </a:fld>
            <a:endParaRPr b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90180"/>
              </p:ext>
            </p:extLst>
          </p:nvPr>
        </p:nvGraphicFramePr>
        <p:xfrm>
          <a:off x="205272" y="718457"/>
          <a:ext cx="11663266" cy="5346441"/>
        </p:xfrm>
        <a:graphic>
          <a:graphicData uri="http://schemas.openxmlformats.org/drawingml/2006/table">
            <a:tbl>
              <a:tblPr firstRow="1" bandRow="1">
                <a:tableStyleId>{90381E67-D018-4355-BFE7-A47452256B26}</a:tableStyleId>
              </a:tblPr>
              <a:tblGrid>
                <a:gridCol w="5831633">
                  <a:extLst>
                    <a:ext uri="{9D8B030D-6E8A-4147-A177-3AD203B41FA5}">
                      <a16:colId xmlns:a16="http://schemas.microsoft.com/office/drawing/2014/main" val="292562604"/>
                    </a:ext>
                  </a:extLst>
                </a:gridCol>
                <a:gridCol w="5831633">
                  <a:extLst>
                    <a:ext uri="{9D8B030D-6E8A-4147-A177-3AD203B41FA5}">
                      <a16:colId xmlns:a16="http://schemas.microsoft.com/office/drawing/2014/main" val="1118983486"/>
                    </a:ext>
                  </a:extLst>
                </a:gridCol>
              </a:tblGrid>
              <a:tr h="5346441"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5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Snippet</a:t>
                      </a:r>
                      <a:endParaRPr lang="en-IN" sz="25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500" b="1" i="0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algn="ctr"/>
                      <a:r>
                        <a:rPr lang="en-US" sz="2500" b="1" i="0" u="none" strike="noStrike" cap="none" dirty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Output</a:t>
                      </a:r>
                      <a:r>
                        <a:rPr lang="en-US" sz="25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endParaRPr lang="en-IN" sz="25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51385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83" y="1521159"/>
            <a:ext cx="4954360" cy="44781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120" y="2696546"/>
            <a:ext cx="5245241" cy="18941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89338" y="175819"/>
            <a:ext cx="8563563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PORTFOLIO CONSTRUCTION</a:t>
            </a:r>
            <a:endParaRPr lang="en-IN" sz="25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2c7b2bafd_0_2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7</a:t>
            </a:fld>
            <a:endParaRPr b="0"/>
          </a:p>
        </p:txBody>
      </p:sp>
      <p:sp>
        <p:nvSpPr>
          <p:cNvPr id="3" name="Rectangle 2"/>
          <p:cNvSpPr/>
          <p:nvPr/>
        </p:nvSpPr>
        <p:spPr>
          <a:xfrm>
            <a:off x="2239115" y="279985"/>
            <a:ext cx="7906332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PORTFOLIO CONSTRUCTION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528910"/>
              </p:ext>
            </p:extLst>
          </p:nvPr>
        </p:nvGraphicFramePr>
        <p:xfrm>
          <a:off x="3722914" y="1501603"/>
          <a:ext cx="5309121" cy="26974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769707">
                  <a:extLst>
                    <a:ext uri="{9D8B030D-6E8A-4147-A177-3AD203B41FA5}">
                      <a16:colId xmlns:a16="http://schemas.microsoft.com/office/drawing/2014/main" val="2034356596"/>
                    </a:ext>
                  </a:extLst>
                </a:gridCol>
                <a:gridCol w="1769707">
                  <a:extLst>
                    <a:ext uri="{9D8B030D-6E8A-4147-A177-3AD203B41FA5}">
                      <a16:colId xmlns:a16="http://schemas.microsoft.com/office/drawing/2014/main" val="337248312"/>
                    </a:ext>
                  </a:extLst>
                </a:gridCol>
                <a:gridCol w="1769707">
                  <a:extLst>
                    <a:ext uri="{9D8B030D-6E8A-4147-A177-3AD203B41FA5}">
                      <a16:colId xmlns:a16="http://schemas.microsoft.com/office/drawing/2014/main" val="1668950418"/>
                    </a:ext>
                  </a:extLst>
                </a:gridCol>
              </a:tblGrid>
              <a:tr h="407626"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Asset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Ticker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Weight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54042199"/>
                  </a:ext>
                </a:extLst>
              </a:tr>
              <a:tr h="407626"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u="none" strike="noStrike" cap="none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Apple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0" i="0" u="none" strike="noStrike" cap="none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AAPL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30%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505997022"/>
                  </a:ext>
                </a:extLst>
              </a:tr>
              <a:tr h="407626"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Microsoft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MSFT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25%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82687071"/>
                  </a:ext>
                </a:extLst>
              </a:tr>
              <a:tr h="407626"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NVIDIA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NVDA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20%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283815449"/>
                  </a:ext>
                </a:extLst>
              </a:tr>
              <a:tr h="407626"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Alphabet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GOOG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15%</a:t>
                      </a:r>
                      <a:endParaRPr lang="en-IN" sz="1700" b="1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8689558"/>
                  </a:ext>
                </a:extLst>
              </a:tr>
              <a:tr h="407626"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AMD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AMD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10%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8939588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60580" y="923731"/>
            <a:ext cx="27463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 Weight Table: </a:t>
            </a:r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60580" y="4442661"/>
            <a:ext cx="17852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 Used:</a:t>
            </a: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916265"/>
              </p:ext>
            </p:extLst>
          </p:nvPr>
        </p:nvGraphicFramePr>
        <p:xfrm>
          <a:off x="2845838" y="4863755"/>
          <a:ext cx="7053942" cy="1798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351314">
                  <a:extLst>
                    <a:ext uri="{9D8B030D-6E8A-4147-A177-3AD203B41FA5}">
                      <a16:colId xmlns:a16="http://schemas.microsoft.com/office/drawing/2014/main" val="2868650372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3427712721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3180252154"/>
                    </a:ext>
                  </a:extLst>
                </a:gridCol>
              </a:tblGrid>
              <a:tr h="35668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Factor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Description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Proxy Used</a:t>
                      </a:r>
                      <a:endParaRPr lang="en-IN" sz="17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593991614"/>
                  </a:ext>
                </a:extLst>
              </a:tr>
              <a:tr h="35668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XLK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Technology Sector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Dow Jones Returns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41569558"/>
                  </a:ext>
                </a:extLst>
              </a:tr>
              <a:tr h="35668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MTUM</a:t>
                      </a:r>
                      <a:endParaRPr lang="en-IN" sz="1700" b="0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Momentum Factor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NASDAQ Returns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909859152"/>
                  </a:ext>
                </a:extLst>
              </a:tr>
              <a:tr h="356685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VLUE</a:t>
                      </a:r>
                      <a:endParaRPr lang="en-IN" sz="1700" b="0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Value Factor</a:t>
                      </a:r>
                      <a:endParaRPr lang="en-IN" sz="1700" b="0" i="0" u="none" strike="noStrike" cap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7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S&amp;P 500 Returns</a:t>
                      </a:r>
                      <a:endParaRPr lang="en-IN" sz="17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33757257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2c7b2bafd_0_3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8</a:t>
            </a:fld>
            <a:endParaRPr b="0"/>
          </a:p>
        </p:txBody>
      </p:sp>
      <p:sp>
        <p:nvSpPr>
          <p:cNvPr id="2" name="Rectangle 1"/>
          <p:cNvSpPr/>
          <p:nvPr/>
        </p:nvSpPr>
        <p:spPr>
          <a:xfrm>
            <a:off x="3122249" y="270655"/>
            <a:ext cx="5836854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FACTOR MODEL ESTIMATION</a:t>
            </a:r>
            <a:endParaRPr lang="en-IN" sz="23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504667"/>
              </p:ext>
            </p:extLst>
          </p:nvPr>
        </p:nvGraphicFramePr>
        <p:xfrm>
          <a:off x="205272" y="718457"/>
          <a:ext cx="11663266" cy="5346441"/>
        </p:xfrm>
        <a:graphic>
          <a:graphicData uri="http://schemas.openxmlformats.org/drawingml/2006/table">
            <a:tbl>
              <a:tblPr firstRow="1" bandRow="1">
                <a:tableStyleId>{90381E67-D018-4355-BFE7-A47452256B26}</a:tableStyleId>
              </a:tblPr>
              <a:tblGrid>
                <a:gridCol w="5831633">
                  <a:extLst>
                    <a:ext uri="{9D8B030D-6E8A-4147-A177-3AD203B41FA5}">
                      <a16:colId xmlns:a16="http://schemas.microsoft.com/office/drawing/2014/main" val="292562604"/>
                    </a:ext>
                  </a:extLst>
                </a:gridCol>
                <a:gridCol w="5831633">
                  <a:extLst>
                    <a:ext uri="{9D8B030D-6E8A-4147-A177-3AD203B41FA5}">
                      <a16:colId xmlns:a16="http://schemas.microsoft.com/office/drawing/2014/main" val="1118983486"/>
                    </a:ext>
                  </a:extLst>
                </a:gridCol>
              </a:tblGrid>
              <a:tr h="5346441"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5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Snippet</a:t>
                      </a:r>
                      <a:endParaRPr lang="en-IN" sz="25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500" b="1" i="0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algn="ctr"/>
                      <a:r>
                        <a:rPr lang="en-US" sz="2500" b="1" i="0" u="none" strike="noStrike" cap="none" dirty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Output </a:t>
                      </a:r>
                      <a:endParaRPr lang="en-IN" sz="2500" b="1" i="0" u="none" strike="noStrike" cap="none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51385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25" y="1567543"/>
            <a:ext cx="4766543" cy="401074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190" y="2108720"/>
            <a:ext cx="4413588" cy="26366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2c7b2bafd_0_3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9</a:t>
            </a:fld>
            <a:endParaRPr b="0"/>
          </a:p>
        </p:txBody>
      </p:sp>
      <p:sp>
        <p:nvSpPr>
          <p:cNvPr id="2" name="Rectangle 1"/>
          <p:cNvSpPr/>
          <p:nvPr/>
        </p:nvSpPr>
        <p:spPr>
          <a:xfrm>
            <a:off x="2453829" y="186679"/>
            <a:ext cx="7104830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 DECOMPOSITION &amp; RISK ANALYSIS</a:t>
            </a:r>
            <a:endParaRPr lang="en-IN" sz="23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039415"/>
              </p:ext>
            </p:extLst>
          </p:nvPr>
        </p:nvGraphicFramePr>
        <p:xfrm>
          <a:off x="205272" y="718457"/>
          <a:ext cx="11663266" cy="5346441"/>
        </p:xfrm>
        <a:graphic>
          <a:graphicData uri="http://schemas.openxmlformats.org/drawingml/2006/table">
            <a:tbl>
              <a:tblPr firstRow="1" bandRow="1">
                <a:tableStyleId>{90381E67-D018-4355-BFE7-A47452256B26}</a:tableStyleId>
              </a:tblPr>
              <a:tblGrid>
                <a:gridCol w="5831633">
                  <a:extLst>
                    <a:ext uri="{9D8B030D-6E8A-4147-A177-3AD203B41FA5}">
                      <a16:colId xmlns:a16="http://schemas.microsoft.com/office/drawing/2014/main" val="292562604"/>
                    </a:ext>
                  </a:extLst>
                </a:gridCol>
                <a:gridCol w="5831633">
                  <a:extLst>
                    <a:ext uri="{9D8B030D-6E8A-4147-A177-3AD203B41FA5}">
                      <a16:colId xmlns:a16="http://schemas.microsoft.com/office/drawing/2014/main" val="1118983486"/>
                    </a:ext>
                  </a:extLst>
                </a:gridCol>
              </a:tblGrid>
              <a:tr h="5346441"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5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Snippet</a:t>
                      </a:r>
                      <a:endParaRPr lang="en-IN" sz="25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500" b="1" i="0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algn="ctr"/>
                      <a:r>
                        <a:rPr lang="en-US" sz="2500" b="1" i="0" u="none" strike="noStrike" cap="none" dirty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Output </a:t>
                      </a:r>
                      <a:endParaRPr lang="en-IN" sz="2500" b="1" i="0" u="none" strike="noStrike" cap="none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51385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643" y="1447503"/>
            <a:ext cx="3487589" cy="199820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71" y="3825552"/>
            <a:ext cx="5465635" cy="18381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9518" y="1976224"/>
            <a:ext cx="5209772" cy="34513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2c7b2bafd_0_4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10</a:t>
            </a:fld>
            <a:endParaRPr b="0"/>
          </a:p>
        </p:txBody>
      </p:sp>
      <p:sp>
        <p:nvSpPr>
          <p:cNvPr id="2" name="Rectangle 1"/>
          <p:cNvSpPr/>
          <p:nvPr/>
        </p:nvSpPr>
        <p:spPr>
          <a:xfrm>
            <a:off x="3018324" y="233333"/>
            <a:ext cx="6516528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DISTRIBUTION &amp; VAR CALCULATION</a:t>
            </a:r>
            <a:endParaRPr lang="en-IN" sz="23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228990"/>
              </p:ext>
            </p:extLst>
          </p:nvPr>
        </p:nvGraphicFramePr>
        <p:xfrm>
          <a:off x="205272" y="718457"/>
          <a:ext cx="11663266" cy="5346441"/>
        </p:xfrm>
        <a:graphic>
          <a:graphicData uri="http://schemas.openxmlformats.org/drawingml/2006/table">
            <a:tbl>
              <a:tblPr firstRow="1" bandRow="1">
                <a:tableStyleId>{90381E67-D018-4355-BFE7-A47452256B26}</a:tableStyleId>
              </a:tblPr>
              <a:tblGrid>
                <a:gridCol w="5831633">
                  <a:extLst>
                    <a:ext uri="{9D8B030D-6E8A-4147-A177-3AD203B41FA5}">
                      <a16:colId xmlns:a16="http://schemas.microsoft.com/office/drawing/2014/main" val="292562604"/>
                    </a:ext>
                  </a:extLst>
                </a:gridCol>
                <a:gridCol w="5831633">
                  <a:extLst>
                    <a:ext uri="{9D8B030D-6E8A-4147-A177-3AD203B41FA5}">
                      <a16:colId xmlns:a16="http://schemas.microsoft.com/office/drawing/2014/main" val="1118983486"/>
                    </a:ext>
                  </a:extLst>
                </a:gridCol>
              </a:tblGrid>
              <a:tr h="5346441"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5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Snippet</a:t>
                      </a:r>
                      <a:endParaRPr lang="en-IN" sz="25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i="0" u="none" strike="noStrike" cap="none" dirty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Graph-Simulation</a:t>
                      </a:r>
                      <a:endParaRPr lang="en-IN" sz="2500" b="1" i="0" u="none" strike="noStrike" cap="none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51385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35" y="3577789"/>
            <a:ext cx="4754587" cy="23004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388" y="1235126"/>
            <a:ext cx="4749282" cy="230853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151" y="3763441"/>
            <a:ext cx="4698519" cy="217444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5521" y="1537175"/>
            <a:ext cx="3071014" cy="18540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2c7b2bafd_0_5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11</a:t>
            </a:fld>
            <a:endParaRPr b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916513"/>
              </p:ext>
            </p:extLst>
          </p:nvPr>
        </p:nvGraphicFramePr>
        <p:xfrm>
          <a:off x="3303035" y="1512768"/>
          <a:ext cx="6038352" cy="36750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19176">
                  <a:extLst>
                    <a:ext uri="{9D8B030D-6E8A-4147-A177-3AD203B41FA5}">
                      <a16:colId xmlns:a16="http://schemas.microsoft.com/office/drawing/2014/main" val="278047497"/>
                    </a:ext>
                  </a:extLst>
                </a:gridCol>
                <a:gridCol w="3019176">
                  <a:extLst>
                    <a:ext uri="{9D8B030D-6E8A-4147-A177-3AD203B41FA5}">
                      <a16:colId xmlns:a16="http://schemas.microsoft.com/office/drawing/2014/main" val="3456353250"/>
                    </a:ext>
                  </a:extLst>
                </a:gridCol>
              </a:tblGrid>
              <a:tr h="450786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effectLst/>
                        </a:rPr>
                        <a:t>Metric</a:t>
                      </a:r>
                      <a:endParaRPr lang="en-IN" sz="17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effectLst/>
                        </a:rPr>
                        <a:t>Daily Value</a:t>
                      </a:r>
                      <a:endParaRPr lang="en-IN" sz="17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860626989"/>
                  </a:ext>
                </a:extLst>
              </a:tr>
              <a:tr h="450786"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effectLst/>
                        </a:rPr>
                        <a:t>Expected Return (</a:t>
                      </a:r>
                      <a:r>
                        <a:rPr lang="el-GR" sz="1700">
                          <a:effectLst/>
                        </a:rPr>
                        <a:t>μ_</a:t>
                      </a:r>
                      <a:r>
                        <a:rPr lang="en-IN" sz="1700">
                          <a:effectLst/>
                        </a:rPr>
                        <a:t>R)</a:t>
                      </a:r>
                      <a:endParaRPr lang="en-IN" sz="1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effectLst/>
                        </a:rPr>
                        <a:t>0.0004%</a:t>
                      </a:r>
                      <a:endParaRPr lang="en-IN" sz="1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016066523"/>
                  </a:ext>
                </a:extLst>
              </a:tr>
              <a:tr h="450786"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effectLst/>
                        </a:rPr>
                        <a:t>Portfolio Volatility (</a:t>
                      </a:r>
                      <a:r>
                        <a:rPr lang="el-GR" sz="1700" dirty="0">
                          <a:effectLst/>
                        </a:rPr>
                        <a:t>σ_</a:t>
                      </a:r>
                      <a:r>
                        <a:rPr lang="en-IN" sz="1700" dirty="0">
                          <a:effectLst/>
                        </a:rPr>
                        <a:t>R)</a:t>
                      </a:r>
                      <a:endParaRPr lang="en-IN" sz="17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effectLst/>
                        </a:rPr>
                        <a:t>0.0151%</a:t>
                      </a:r>
                      <a:endParaRPr lang="en-IN" sz="1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820516742"/>
                  </a:ext>
                </a:extLst>
              </a:tr>
              <a:tr h="710561"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effectLst/>
                        </a:rPr>
                        <a:t>Loss Distribution Mean (</a:t>
                      </a:r>
                      <a:r>
                        <a:rPr lang="el-GR" sz="1700">
                          <a:effectLst/>
                        </a:rPr>
                        <a:t>μ_</a:t>
                      </a:r>
                      <a:r>
                        <a:rPr lang="en-IN" sz="1700">
                          <a:effectLst/>
                        </a:rPr>
                        <a:t>L)</a:t>
                      </a:r>
                      <a:endParaRPr lang="en-IN" sz="1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effectLst/>
                        </a:rPr>
                        <a:t>-0.0004%</a:t>
                      </a:r>
                      <a:endParaRPr lang="en-IN" sz="1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183648423"/>
                  </a:ext>
                </a:extLst>
              </a:tr>
              <a:tr h="710561"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effectLst/>
                        </a:rPr>
                        <a:t>Loss Distribution Std Dev (σ_L)</a:t>
                      </a:r>
                      <a:endParaRPr lang="en-US" sz="1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effectLst/>
                        </a:rPr>
                        <a:t>0.0151%</a:t>
                      </a:r>
                      <a:endParaRPr lang="en-IN" sz="1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811331706"/>
                  </a:ext>
                </a:extLst>
              </a:tr>
              <a:tr h="450786"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effectLst/>
                        </a:rPr>
                        <a:t>95% VaR</a:t>
                      </a:r>
                      <a:endParaRPr lang="en-IN" sz="1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effectLst/>
                        </a:rPr>
                        <a:t>0.0243%</a:t>
                      </a:r>
                      <a:endParaRPr lang="en-IN" sz="1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292564216"/>
                  </a:ext>
                </a:extLst>
              </a:tr>
              <a:tr h="450786">
                <a:tc>
                  <a:txBody>
                    <a:bodyPr/>
                    <a:lstStyle/>
                    <a:p>
                      <a:pPr algn="ctr"/>
                      <a:r>
                        <a:rPr lang="en-IN" sz="1700">
                          <a:effectLst/>
                        </a:rPr>
                        <a:t>99% VaR</a:t>
                      </a:r>
                      <a:endParaRPr lang="en-IN" sz="170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700" dirty="0">
                          <a:effectLst/>
                        </a:rPr>
                        <a:t>0.0346%</a:t>
                      </a:r>
                      <a:endParaRPr lang="en-IN" sz="17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4872489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824860" y="478408"/>
            <a:ext cx="6516528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DISTRIBUTION &amp; VAR CALCULATION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2c7b2bafd_0_7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12</a:t>
            </a:fld>
            <a:endParaRPr b="0"/>
          </a:p>
        </p:txBody>
      </p:sp>
      <p:sp>
        <p:nvSpPr>
          <p:cNvPr id="2" name="Rectangle 1"/>
          <p:cNvSpPr/>
          <p:nvPr/>
        </p:nvSpPr>
        <p:spPr>
          <a:xfrm>
            <a:off x="3231709" y="98570"/>
            <a:ext cx="6420347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3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</a:t>
            </a:r>
            <a:r>
              <a:rPr lang="en-IN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</a:t>
            </a:r>
          </a:p>
          <a:p>
            <a:endParaRPr lang="en-IN" sz="23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001457"/>
              </p:ext>
            </p:extLst>
          </p:nvPr>
        </p:nvGraphicFramePr>
        <p:xfrm>
          <a:off x="205272" y="718457"/>
          <a:ext cx="11663266" cy="5346441"/>
        </p:xfrm>
        <a:graphic>
          <a:graphicData uri="http://schemas.openxmlformats.org/drawingml/2006/table">
            <a:tbl>
              <a:tblPr firstRow="1" bandRow="1">
                <a:tableStyleId>{90381E67-D018-4355-BFE7-A47452256B26}</a:tableStyleId>
              </a:tblPr>
              <a:tblGrid>
                <a:gridCol w="5831633">
                  <a:extLst>
                    <a:ext uri="{9D8B030D-6E8A-4147-A177-3AD203B41FA5}">
                      <a16:colId xmlns:a16="http://schemas.microsoft.com/office/drawing/2014/main" val="292562604"/>
                    </a:ext>
                  </a:extLst>
                </a:gridCol>
                <a:gridCol w="5831633">
                  <a:extLst>
                    <a:ext uri="{9D8B030D-6E8A-4147-A177-3AD203B41FA5}">
                      <a16:colId xmlns:a16="http://schemas.microsoft.com/office/drawing/2014/main" val="1118983486"/>
                    </a:ext>
                  </a:extLst>
                </a:gridCol>
              </a:tblGrid>
              <a:tr h="5346441"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5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Snippet</a:t>
                      </a:r>
                      <a:endParaRPr lang="en-IN" sz="25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500" b="1" i="0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algn="ctr"/>
                      <a:r>
                        <a:rPr lang="en-US" sz="2500" b="1" i="0" u="none" strike="noStrike" cap="none" dirty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Graph-Simulation</a:t>
                      </a:r>
                      <a:endParaRPr lang="en-IN" sz="2500" b="1" i="0" u="none" strike="noStrike" cap="none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51385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06" y="1518676"/>
            <a:ext cx="4287006" cy="166199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39" y="3613023"/>
            <a:ext cx="5502539" cy="175208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6622" y="2034135"/>
            <a:ext cx="5578272" cy="27832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594303" y="266701"/>
            <a:ext cx="10515600" cy="647699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Baseline Logic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14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427" y="830425"/>
                <a:ext cx="10515600" cy="5289864"/>
              </a:xfrm>
            </p:spPr>
            <p:txBody>
              <a:bodyPr/>
              <a:lstStyle/>
              <a:p>
                <a:pPr algn="just"/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Factor loadings </a:t>
                </a:r>
                <a:r>
                  <a:rPr lang="el-GR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Factor 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Idiosyncratic variance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1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threshold are fixed.</a:t>
                </a:r>
              </a:p>
              <a:p>
                <a:pPr algn="just"/>
                <a:r>
                  <a:rPr lang="en-US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re-estimation, no adaptive updating, and no stochastic optimization. </a:t>
                </a: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Analytical Structure: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Factor Model:  	 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IN" dirty="0" smtClean="0"/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Portfolio Variance :</a:t>
                </a:r>
                <a:r>
                  <a:rPr lang="en-US" dirty="0" smtClean="0"/>
                  <a:t>		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∑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 </m:t>
                    </m:r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Loss distribution(Gaussian Assumption</a:t>
                </a:r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	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 , </m:t>
                    </m:r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Closed-Form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dirty="0" smtClean="0"/>
                  <a:t>			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𝑉𝑎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95%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+1.645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IN" dirty="0"/>
              </a:p>
              <a:p>
                <a:pPr lvl="2">
                  <a:buFont typeface="Wingdings" panose="05000000000000000000" pitchFamily="2" charset="2"/>
                  <a:buChar char="Ø"/>
                </a:pPr>
                <a:endParaRPr lang="en-IN" dirty="0"/>
              </a:p>
              <a:p>
                <a:pPr lvl="0">
                  <a:buClr>
                    <a:srgbClr val="000000"/>
                  </a:buClr>
                </a:pPr>
                <a:r>
                  <a:rPr lang="en-US" b="1" dirty="0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Interpretation</a:t>
                </a:r>
              </a:p>
              <a:p>
                <a:pPr marL="76200" lvl="0" indent="0">
                  <a:buClr>
                    <a:srgbClr val="000000"/>
                  </a:buClr>
                  <a:buNone/>
                </a:pPr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</a:t>
                </a:r>
                <a:r>
                  <a:rPr lang="en-US" sz="1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static probabilistic benchmark. </a:t>
                </a:r>
              </a:p>
              <a:p>
                <a:pPr marL="76200" lvl="0" indent="0">
                  <a:buClr>
                    <a:srgbClr val="000000"/>
                  </a:buClr>
                  <a:buNone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It provides: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Analytical clarity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Computational efficiency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fixed risk threshold for evaluation</a:t>
                </a:r>
                <a:endParaRPr lang="en-I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 Placeholder 1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427" y="830425"/>
                <a:ext cx="10515600" cy="5289864"/>
              </a:xfrm>
              <a:blipFill>
                <a:blip r:embed="rId2"/>
                <a:stretch>
                  <a:fillRect l="-232" t="-576" b="-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</a:t>
            </a:r>
            <a:r>
              <a:rPr lang="en-US" b="0" smtClean="0"/>
              <a:t>  </a:t>
            </a:r>
            <a:fld id="{00000000-1234-1234-1234-123412341234}" type="slidenum">
              <a:rPr lang="en-US" b="0" smtClean="0"/>
              <a:t>13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34318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2c7b2bafd_0_6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14</a:t>
            </a:fld>
            <a:endParaRPr b="0"/>
          </a:p>
        </p:txBody>
      </p:sp>
      <p:sp>
        <p:nvSpPr>
          <p:cNvPr id="3" name="Rectangle 2"/>
          <p:cNvSpPr/>
          <p:nvPr/>
        </p:nvSpPr>
        <p:spPr>
          <a:xfrm>
            <a:off x="3741576" y="309614"/>
            <a:ext cx="4394718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BACKTESTING RESULTS</a:t>
            </a:r>
            <a:endParaRPr lang="en-IN" sz="2400" b="1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910077"/>
              </p:ext>
            </p:extLst>
          </p:nvPr>
        </p:nvGraphicFramePr>
        <p:xfrm>
          <a:off x="205272" y="718457"/>
          <a:ext cx="11663266" cy="5346441"/>
        </p:xfrm>
        <a:graphic>
          <a:graphicData uri="http://schemas.openxmlformats.org/drawingml/2006/table">
            <a:tbl>
              <a:tblPr firstRow="1" bandRow="1">
                <a:tableStyleId>{90381E67-D018-4355-BFE7-A47452256B26}</a:tableStyleId>
              </a:tblPr>
              <a:tblGrid>
                <a:gridCol w="5831633">
                  <a:extLst>
                    <a:ext uri="{9D8B030D-6E8A-4147-A177-3AD203B41FA5}">
                      <a16:colId xmlns:a16="http://schemas.microsoft.com/office/drawing/2014/main" val="292562604"/>
                    </a:ext>
                  </a:extLst>
                </a:gridCol>
                <a:gridCol w="5831633">
                  <a:extLst>
                    <a:ext uri="{9D8B030D-6E8A-4147-A177-3AD203B41FA5}">
                      <a16:colId xmlns:a16="http://schemas.microsoft.com/office/drawing/2014/main" val="1118983486"/>
                    </a:ext>
                  </a:extLst>
                </a:gridCol>
              </a:tblGrid>
              <a:tr h="5346441">
                <a:tc>
                  <a:txBody>
                    <a:bodyPr/>
                    <a:lstStyle/>
                    <a:p>
                      <a:pPr algn="ctr"/>
                      <a:endPara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5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Snippet</a:t>
                      </a:r>
                      <a:endParaRPr lang="en-IN" sz="25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500" b="1" i="0" u="none" strike="noStrike" cap="none" dirty="0" smtClean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algn="ctr"/>
                      <a:r>
                        <a:rPr lang="en-US" sz="2500" b="1" i="0" u="none" strike="noStrike" cap="none" dirty="0" smtClean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Graph-Simulation</a:t>
                      </a:r>
                      <a:endParaRPr lang="en-IN" sz="2500" b="1" i="0" u="none" strike="noStrike" cap="none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51385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91" y="1658880"/>
            <a:ext cx="5603617" cy="40118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719" y="2043085"/>
            <a:ext cx="5755987" cy="27715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of Deterministic Baseline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Stable across the test period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conservative risk estimates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efficient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Fully interpretable framework</a:t>
            </a:r>
          </a:p>
          <a:p>
            <a:pPr marL="558800" lvl="1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000000"/>
              </a:buClr>
            </a:pP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 Gaussian tail risk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parameters (no dynamic updating)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</a:t>
            </a:r>
            <a:r>
              <a:rPr lang="en-US" b="0" smtClean="0"/>
              <a:t>  </a:t>
            </a:r>
            <a:fld id="{00000000-1234-1234-1234-123412341234}" type="slidenum">
              <a:rPr lang="en-US" b="0" smtClean="0"/>
              <a:t>15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293872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Transition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Milestone 3 achieved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 end–to–end simulation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baseline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implementation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Out- of- Sample validation</a:t>
            </a:r>
          </a:p>
          <a:p>
            <a:pPr marL="558800" lvl="1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Clr>
                <a:srgbClr val="000000"/>
              </a:buClr>
            </a:pPr>
            <a:r>
              <a:rPr 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randomized Strategies Next?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tail risk modelling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scenario simulation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risk thresholds</a:t>
            </a:r>
          </a:p>
          <a:p>
            <a:pPr lvl="1"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Monte Carlo flexibility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lvl="1" indent="0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lvl="1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</a:t>
            </a:r>
            <a:r>
              <a:rPr lang="en-US" b="0" smtClean="0"/>
              <a:t>  </a:t>
            </a:r>
            <a:fld id="{00000000-1234-1234-1234-123412341234}" type="slidenum">
              <a:rPr lang="en-US" b="0" smtClean="0"/>
              <a:t>16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125116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</a:t>
            </a:r>
            <a:r>
              <a:rPr lang="en-IN" dirty="0" smtClean="0">
                <a:hlinkClick r:id="rId2"/>
              </a:rPr>
              <a:t>www.kaggle.com/datasets/muhammadahmad246/enhanced-stock-market-dataset?resource=download</a:t>
            </a:r>
            <a:endParaRPr lang="en-IN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</a:t>
            </a:r>
            <a:r>
              <a:rPr lang="en-US" b="0" smtClean="0"/>
              <a:t>  </a:t>
            </a:r>
            <a:fld id="{00000000-1234-1234-1234-123412341234}" type="slidenum">
              <a:rPr lang="en-US" b="0" smtClean="0"/>
              <a:t>17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2882115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412</Words>
  <Application>Microsoft Office PowerPoint</Application>
  <PresentationFormat>Widescreen</PresentationFormat>
  <Paragraphs>211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Times New Roman</vt:lpstr>
      <vt:lpstr>Calibri</vt:lpstr>
      <vt:lpstr>Helvetica Neue</vt:lpstr>
      <vt:lpstr>Helvetica Neue Light</vt:lpstr>
      <vt:lpstr>Arial</vt:lpstr>
      <vt:lpstr>Cambria Math</vt:lpstr>
      <vt:lpstr>Wingdings</vt:lpstr>
      <vt:lpstr>Office Theme</vt:lpstr>
      <vt:lpstr>PowerPoint Presentation</vt:lpstr>
      <vt:lpstr>Project Context and Motivation</vt:lpstr>
      <vt:lpstr>Project Objective and Deterministic Baseline</vt:lpstr>
      <vt:lpstr>Baseline System Pipeline Overview</vt:lpstr>
      <vt:lpstr>Baseline System Pipeline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Deterministic Baseline Logic</vt:lpstr>
      <vt:lpstr>PowerPoint Presentation</vt:lpstr>
      <vt:lpstr>Performance Analysis of Deterministic Baseline</vt:lpstr>
      <vt:lpstr>Summary and Transition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Manisha Patel</cp:lastModifiedBy>
  <cp:revision>42</cp:revision>
  <dcterms:created xsi:type="dcterms:W3CDTF">2019-05-10T05:56:50Z</dcterms:created>
  <dcterms:modified xsi:type="dcterms:W3CDTF">2026-03-05T12:53:13Z</dcterms:modified>
</cp:coreProperties>
</file>