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2192000" cy="6858000"/>
  <p:notesSz cx="6858000" cy="9144000"/>
  <p:embeddedFontLst>
    <p:embeddedFont>
      <p:font typeface="Times New Roman Bold" charset="1" panose="02020803070505020304"/>
      <p:regular r:id="rId22"/>
    </p:embeddedFont>
    <p:embeddedFont>
      <p:font typeface="Times New Roman" charset="1" panose="02020603050405020304"/>
      <p:regular r:id="rId23"/>
    </p:embeddedFont>
    <p:embeddedFont>
      <p:font typeface="IBM Plex Sans" charset="1" panose="020B0503050203000203"/>
      <p:regular r:id="rId24"/>
    </p:embeddedFont>
    <p:embeddedFont>
      <p:font typeface="IBM Plex Sans Bold" charset="1" panose="020B0803050203000203"/>
      <p:regular r:id="rId25"/>
    </p:embeddedFont>
    <p:embeddedFont>
      <p:font typeface="Arial Bold" charset="1" panose="020B0704020202020204"/>
      <p:regular r:id="rId26"/>
    </p:embeddedFont>
    <p:embeddedFont>
      <p:font typeface="Arial" charset="1" panose="020B0604020202020204"/>
      <p:regular r:id="rId27"/>
    </p:embeddedFont>
    <p:embeddedFont>
      <p:font typeface="Arimo" charset="1" panose="020B0604020202020204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Relationship Id="rId8" Target="../media/image11.pn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3.jpeg" Type="http://schemas.openxmlformats.org/officeDocument/2006/relationships/image"/><Relationship Id="rId5" Target="../media/image14.jpeg" Type="http://schemas.openxmlformats.org/officeDocument/2006/relationships/image"/><Relationship Id="rId6" Target="../media/image15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6.jpeg" Type="http://schemas.openxmlformats.org/officeDocument/2006/relationships/image"/><Relationship Id="rId5" Target="../media/image17.jpeg" Type="http://schemas.openxmlformats.org/officeDocument/2006/relationships/image"/><Relationship Id="rId6" Target="../media/image18.jpeg" Type="http://schemas.openxmlformats.org/officeDocument/2006/relationships/image"/><Relationship Id="rId7" Target="../media/image19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22.jpeg" Type="http://schemas.openxmlformats.org/officeDocument/2006/relationships/image"/><Relationship Id="rId5" Target="../media/image23.jpeg" Type="http://schemas.openxmlformats.org/officeDocument/2006/relationships/image"/><Relationship Id="rId6" Target="../media/image24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Relationship Id="rId7" Target="../media/image28.png" Type="http://schemas.openxmlformats.org/officeDocument/2006/relationships/image"/><Relationship Id="rId8" Target="../media/image2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0.jpeg" Type="http://schemas.openxmlformats.org/officeDocument/2006/relationships/image"/><Relationship Id="rId5" Target="../media/image31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756397"/>
            <a:ext cx="12192000" cy="101603"/>
            <a:chOff x="0" y="0"/>
            <a:chExt cx="16256000" cy="1354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56000" cy="135509"/>
            </a:xfrm>
            <a:custGeom>
              <a:avLst/>
              <a:gdLst/>
              <a:ahLst/>
              <a:cxnLst/>
              <a:rect r="r" b="b" t="t" l="l"/>
              <a:pathLst>
                <a:path h="135509" w="16256000">
                  <a:moveTo>
                    <a:pt x="0" y="0"/>
                  </a:moveTo>
                  <a:lnTo>
                    <a:pt x="16256000" y="0"/>
                  </a:lnTo>
                  <a:lnTo>
                    <a:pt x="16256000" y="135509"/>
                  </a:lnTo>
                  <a:lnTo>
                    <a:pt x="0" y="135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131597" y="685800"/>
            <a:ext cx="3928805" cy="1333243"/>
            <a:chOff x="0" y="0"/>
            <a:chExt cx="5238407" cy="177765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238369" cy="1777619"/>
            </a:xfrm>
            <a:custGeom>
              <a:avLst/>
              <a:gdLst/>
              <a:ahLst/>
              <a:cxnLst/>
              <a:rect r="r" b="b" t="t" l="l"/>
              <a:pathLst>
                <a:path h="1777619" w="5238369">
                  <a:moveTo>
                    <a:pt x="0" y="0"/>
                  </a:moveTo>
                  <a:lnTo>
                    <a:pt x="5238369" y="0"/>
                  </a:lnTo>
                  <a:lnTo>
                    <a:pt x="5238369" y="1777619"/>
                  </a:lnTo>
                  <a:lnTo>
                    <a:pt x="0" y="17776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8926" t="-264879" r="-89046" b="-26541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56742" y="2297459"/>
            <a:ext cx="10441934" cy="3618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8"/>
              </a:lnSpc>
            </a:pPr>
            <a:r>
              <a:rPr lang="en-US" b="true" sz="2799">
                <a:solidFill>
                  <a:srgbClr val="0020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Modeling Value at Risk (VaR):  Monte Carlo Simulation</a:t>
            </a:r>
          </a:p>
          <a:p>
            <a:pPr algn="ctr">
              <a:lnSpc>
                <a:spcPts val="3275"/>
              </a:lnSpc>
            </a:pPr>
            <a:r>
              <a:rPr lang="en-US" b="true" sz="2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Rand</a:t>
            </a:r>
            <a:r>
              <a:rPr lang="en-US" b="true" sz="2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omized Algorithm for Tail Risk Estimation</a:t>
            </a:r>
          </a:p>
          <a:p>
            <a:pPr algn="ctr">
              <a:lnSpc>
                <a:spcPts val="3667"/>
              </a:lnSpc>
            </a:pPr>
            <a:r>
              <a:rPr lang="en-US" b="true" sz="2799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Milestone – 4</a:t>
            </a:r>
          </a:p>
          <a:p>
            <a:pPr algn="ctr">
              <a:lnSpc>
                <a:spcPts val="3667"/>
              </a:lnSpc>
            </a:pPr>
            <a:r>
              <a:rPr lang="en-US" b="true" sz="2799">
                <a:solidFill>
                  <a:srgbClr val="00542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Section 1 </a:t>
            </a:r>
          </a:p>
          <a:p>
            <a:pPr algn="ctr">
              <a:lnSpc>
                <a:spcPts val="3667"/>
              </a:lnSpc>
            </a:pPr>
            <a:r>
              <a:rPr lang="en-US" b="true" sz="2799">
                <a:solidFill>
                  <a:srgbClr val="0020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Group – 4 </a:t>
            </a:r>
          </a:p>
          <a:p>
            <a:pPr algn="ctr">
              <a:lnSpc>
                <a:spcPts val="3667"/>
              </a:lnSpc>
            </a:pPr>
            <a:r>
              <a:rPr lang="en-US" b="true" sz="2799">
                <a:solidFill>
                  <a:srgbClr val="FF66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CSE 400 : Fundamentals of Probability in Computing </a:t>
            </a:r>
          </a:p>
          <a:p>
            <a:pPr algn="ctr">
              <a:lnSpc>
                <a:spcPts val="3667"/>
              </a:lnSpc>
            </a:pPr>
            <a:r>
              <a:rPr lang="en-US" b="true" sz="2799">
                <a:solidFill>
                  <a:srgbClr val="0070C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Prepared By : Masoom Choksi (AU2440263) </a:t>
            </a:r>
          </a:p>
          <a:p>
            <a:pPr algn="ctr">
              <a:lnSpc>
                <a:spcPts val="3668"/>
              </a:lnSpc>
            </a:pPr>
            <a:r>
              <a:rPr lang="en-US" b="true" sz="2799">
                <a:solidFill>
                  <a:srgbClr val="0070C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           Jinay Shah (AU2440296)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756397"/>
            <a:ext cx="12192000" cy="101603"/>
            <a:chOff x="0" y="0"/>
            <a:chExt cx="16256000" cy="1354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56000" cy="135509"/>
            </a:xfrm>
            <a:custGeom>
              <a:avLst/>
              <a:gdLst/>
              <a:ahLst/>
              <a:cxnLst/>
              <a:rect r="r" b="b" t="t" l="l"/>
              <a:pathLst>
                <a:path h="135509" w="16256000">
                  <a:moveTo>
                    <a:pt x="0" y="0"/>
                  </a:moveTo>
                  <a:lnTo>
                    <a:pt x="16256000" y="0"/>
                  </a:lnTo>
                  <a:lnTo>
                    <a:pt x="16256000" y="135509"/>
                  </a:lnTo>
                  <a:lnTo>
                    <a:pt x="0" y="135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58816" y="6038945"/>
            <a:ext cx="1365809" cy="598989"/>
            <a:chOff x="0" y="0"/>
            <a:chExt cx="1821078" cy="7986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1053" cy="798703"/>
            </a:xfrm>
            <a:custGeom>
              <a:avLst/>
              <a:gdLst/>
              <a:ahLst/>
              <a:cxnLst/>
              <a:rect r="r" b="b" t="t" l="l"/>
              <a:pathLst>
                <a:path h="798703" w="1821053">
                  <a:moveTo>
                    <a:pt x="0" y="0"/>
                  </a:moveTo>
                  <a:lnTo>
                    <a:pt x="1821053" y="0"/>
                  </a:lnTo>
                  <a:lnTo>
                    <a:pt x="1821053" y="798703"/>
                  </a:lnTo>
                  <a:lnTo>
                    <a:pt x="0" y="798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63" t="-164482" r="-72136" b="-164841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2407225" y="337709"/>
            <a:ext cx="7027393" cy="702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b="true" sz="4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Context and Motivation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42526" y="1384106"/>
            <a:ext cx="5159546" cy="1002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0"/>
              </a:lnSpc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Monte Carlo Simulation- Randomized Algorithm</a:t>
            </a: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Domain: Financial Risk Management </a:t>
            </a:r>
          </a:p>
          <a:p>
            <a:pPr algn="l">
              <a:lnSpc>
                <a:spcPts val="2680"/>
              </a:lnSpc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this</a:t>
            </a: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matters: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324224" y="5127346"/>
            <a:ext cx="38862" cy="188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5"/>
              </a:lnSpc>
            </a:pPr>
            <a:r>
              <a:rPr lang="en-US" b="true" sz="1200">
                <a:solidFill>
                  <a:srgbClr val="00B05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223249" y="4682716"/>
            <a:ext cx="6756499" cy="293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2"/>
              </a:lnSpc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Examine fixed vs random (Monte Carlo) value-at-risk approaches.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04326" y="1426435"/>
            <a:ext cx="57617" cy="271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 spc="4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 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99726" y="2382098"/>
            <a:ext cx="7434891" cy="1446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26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Financial markets shift quickly and change often.</a:t>
            </a:r>
          </a:p>
          <a:p>
            <a:pPr algn="l" marL="431801" indent="-215900" lvl="1">
              <a:lnSpc>
                <a:spcPts val="226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Standard models suppose stable results.</a:t>
            </a:r>
          </a:p>
          <a:p>
            <a:pPr algn="l" marL="431801" indent="-215900" lvl="1">
              <a:lnSpc>
                <a:spcPts val="226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Actual risk calls for including possible outcomes. </a:t>
            </a:r>
          </a:p>
          <a:p>
            <a:pPr algn="l" marL="431801" indent="-215900" lvl="1">
              <a:lnSpc>
                <a:spcPts val="226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These methods are used by banks and financial supervisors under Basel III.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42526" y="3991302"/>
            <a:ext cx="680723" cy="385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b="true" sz="2200">
                <a:solidFill>
                  <a:srgbClr val="00B05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Goal: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04326" y="5632228"/>
            <a:ext cx="72028" cy="341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spc="6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 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223365" y="6380426"/>
            <a:ext cx="86430" cy="201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36">
                <a:solidFill>
                  <a:srgbClr val="7F7F7F"/>
                </a:solidFill>
                <a:latin typeface="IBM Plex Sans"/>
                <a:ea typeface="IBM Plex Sans"/>
                <a:cs typeface="IBM Plex Sans"/>
                <a:sym typeface="IBM Plex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756397"/>
            <a:ext cx="12192000" cy="101603"/>
            <a:chOff x="0" y="0"/>
            <a:chExt cx="16256000" cy="1354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56000" cy="135509"/>
            </a:xfrm>
            <a:custGeom>
              <a:avLst/>
              <a:gdLst/>
              <a:ahLst/>
              <a:cxnLst/>
              <a:rect r="r" b="b" t="t" l="l"/>
              <a:pathLst>
                <a:path h="135509" w="16256000">
                  <a:moveTo>
                    <a:pt x="0" y="0"/>
                  </a:moveTo>
                  <a:lnTo>
                    <a:pt x="16256000" y="0"/>
                  </a:lnTo>
                  <a:lnTo>
                    <a:pt x="16256000" y="135509"/>
                  </a:lnTo>
                  <a:lnTo>
                    <a:pt x="0" y="135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58816" y="6038945"/>
            <a:ext cx="1365809" cy="598989"/>
            <a:chOff x="0" y="0"/>
            <a:chExt cx="1821078" cy="7986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1053" cy="798703"/>
            </a:xfrm>
            <a:custGeom>
              <a:avLst/>
              <a:gdLst/>
              <a:ahLst/>
              <a:cxnLst/>
              <a:rect r="r" b="b" t="t" l="l"/>
              <a:pathLst>
                <a:path h="798703" w="1821053">
                  <a:moveTo>
                    <a:pt x="0" y="0"/>
                  </a:moveTo>
                  <a:lnTo>
                    <a:pt x="1821053" y="0"/>
                  </a:lnTo>
                  <a:lnTo>
                    <a:pt x="1821053" y="798703"/>
                  </a:lnTo>
                  <a:lnTo>
                    <a:pt x="0" y="798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63" t="-164482" r="-72136" b="-164841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989762" y="186347"/>
            <a:ext cx="9919030" cy="626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4"/>
              </a:lnSpc>
            </a:pPr>
            <a:r>
              <a:rPr lang="en-US" b="true" sz="4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Objective and Deterministic Baseline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04326" y="706336"/>
            <a:ext cx="155448" cy="526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8"/>
              </a:lnSpc>
            </a:pPr>
            <a:r>
              <a:rPr lang="en-US" sz="2400" spc="192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•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337806" y="695487"/>
            <a:ext cx="77724" cy="530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8"/>
              </a:lnSpc>
            </a:pPr>
            <a:r>
              <a:rPr lang="en-US" b="true" sz="2400" spc="1920">
                <a:solidFill>
                  <a:srgbClr val="0070C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2050" y="2526735"/>
            <a:ext cx="155448" cy="411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spc="72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•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85326" y="800262"/>
            <a:ext cx="1277598" cy="425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5"/>
              </a:lnSpc>
            </a:pPr>
            <a:r>
              <a:rPr lang="en-US" b="true" sz="2400">
                <a:solidFill>
                  <a:srgbClr val="0070C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Objective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22103" y="1221762"/>
            <a:ext cx="64770" cy="356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8"/>
              </a:lnSpc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396158" y="2526735"/>
            <a:ext cx="51816" cy="28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2"/>
              </a:lnSpc>
            </a:pPr>
            <a:r>
              <a:rPr lang="en-US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85326" y="2576994"/>
            <a:ext cx="4256351" cy="415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33"/>
              </a:lnSpc>
            </a:pPr>
            <a:r>
              <a:rPr lang="en-US" b="true" sz="2400">
                <a:solidFill>
                  <a:srgbClr val="00B05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Deterministic Baseline Strategy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126723" y="4184209"/>
            <a:ext cx="43215" cy="334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200" spc="96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 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456936" y="4184209"/>
            <a:ext cx="43215" cy="334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200" spc="96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 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223365" y="6380426"/>
            <a:ext cx="86430" cy="201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36">
                <a:solidFill>
                  <a:srgbClr val="7F7F7F"/>
                </a:solidFill>
                <a:latin typeface="IBM Plex Sans"/>
                <a:ea typeface="IBM Plex Sans"/>
                <a:cs typeface="IBM Plex Sans"/>
                <a:sym typeface="IBM Plex Sans"/>
              </a:rPr>
              <a:t>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85326" y="4250884"/>
            <a:ext cx="8890815" cy="706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8"/>
              </a:lnSpc>
            </a:pPr>
            <a:r>
              <a:rPr lang="en-US" b="true" sz="18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• Portfolio: 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Five stocks, AAPL, MSFT, NVDA, GOOG, AMD each has a weight of 0. 30, 0. 25, 0.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20, 0. 15, and 0. 10 respectively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86929" y="1373905"/>
            <a:ext cx="4762348" cy="952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88620" indent="-194310" lvl="1">
              <a:lnSpc>
                <a:spcPts val="2532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ure out VaR at 95% confidenceVaR shows the biggest possible loss under normal market conditions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81422" y="3183345"/>
            <a:ext cx="5588470" cy="952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32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 eq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uals average loss plus Z times standard deviation of lossZ is 1. 645 for 95% confidence. </a:t>
            </a:r>
          </a:p>
          <a:p>
            <a:pPr algn="l" marL="388620" indent="-194310" lvl="1">
              <a:lnSpc>
                <a:spcPts val="2532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assumes losses follow a normal distribution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18357" y="5307716"/>
            <a:ext cx="4336033" cy="32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32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• Result: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Deterministic VaR comes to 0.0243%</a:t>
            </a:r>
            <a:r>
              <a:rPr lang="en-US" b="true" sz="18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756397"/>
            <a:ext cx="12192000" cy="101603"/>
            <a:chOff x="0" y="0"/>
            <a:chExt cx="16256000" cy="1354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56000" cy="135509"/>
            </a:xfrm>
            <a:custGeom>
              <a:avLst/>
              <a:gdLst/>
              <a:ahLst/>
              <a:cxnLst/>
              <a:rect r="r" b="b" t="t" l="l"/>
              <a:pathLst>
                <a:path h="135509" w="16256000">
                  <a:moveTo>
                    <a:pt x="0" y="0"/>
                  </a:moveTo>
                  <a:lnTo>
                    <a:pt x="16256000" y="0"/>
                  </a:lnTo>
                  <a:lnTo>
                    <a:pt x="16256000" y="135509"/>
                  </a:lnTo>
                  <a:lnTo>
                    <a:pt x="0" y="135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58816" y="6038945"/>
            <a:ext cx="1365809" cy="598989"/>
            <a:chOff x="0" y="0"/>
            <a:chExt cx="1821078" cy="7986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1053" cy="798703"/>
            </a:xfrm>
            <a:custGeom>
              <a:avLst/>
              <a:gdLst/>
              <a:ahLst/>
              <a:cxnLst/>
              <a:rect r="r" b="b" t="t" l="l"/>
              <a:pathLst>
                <a:path h="798703" w="1821053">
                  <a:moveTo>
                    <a:pt x="0" y="0"/>
                  </a:moveTo>
                  <a:lnTo>
                    <a:pt x="1821053" y="0"/>
                  </a:lnTo>
                  <a:lnTo>
                    <a:pt x="1821053" y="798703"/>
                  </a:lnTo>
                  <a:lnTo>
                    <a:pt x="0" y="798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63" t="-164482" r="-72136" b="-164841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2101691" y="165468"/>
            <a:ext cx="7650556" cy="506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b="true" sz="395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Baseline System Pipeline Overview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05774" y="615725"/>
            <a:ext cx="61532" cy="541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0"/>
              </a:lnSpc>
            </a:pPr>
            <a:r>
              <a:rPr lang="en-US" b="true" sz="1900">
                <a:solidFill>
                  <a:srgbClr val="0070C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04326" y="841667"/>
            <a:ext cx="123063" cy="31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spc="56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•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85326" y="815750"/>
            <a:ext cx="2988116" cy="341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b="true" sz="1900">
                <a:solidFill>
                  <a:srgbClr val="0070C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End-to-End</a:t>
            </a:r>
            <a:r>
              <a:rPr lang="en-US" b="true" sz="19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b="true" sz="1900">
                <a:solidFill>
                  <a:srgbClr val="0070C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Implementation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176787" y="1280169"/>
            <a:ext cx="2010445" cy="356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3"/>
              </a:lnSpc>
            </a:pPr>
            <a:r>
              <a:rPr lang="en-US" b="true" sz="19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Historical Returns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037088" y="1760991"/>
            <a:ext cx="190574" cy="356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3"/>
              </a:lnSpc>
            </a:pPr>
            <a:r>
              <a:rPr lang="en-US" b="true" sz="19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↓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788159" y="2241814"/>
            <a:ext cx="2986980" cy="356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3"/>
              </a:lnSpc>
            </a:pPr>
            <a:r>
              <a:rPr lang="en-US" b="true" sz="19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Estimate Parameters (μ, 𝛔)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006503" y="2689793"/>
            <a:ext cx="190574" cy="356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3"/>
              </a:lnSpc>
            </a:pPr>
            <a:r>
              <a:rPr lang="en-US" b="true" sz="19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↓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716424" y="3139802"/>
            <a:ext cx="2641327" cy="324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2"/>
              </a:lnSpc>
            </a:pPr>
            <a:r>
              <a:rPr lang="en-US" b="true" sz="18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Generate Random Returns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986243" y="3559207"/>
            <a:ext cx="190574" cy="356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3"/>
              </a:lnSpc>
            </a:pPr>
            <a:r>
              <a:rPr lang="en-US" b="true" sz="19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↓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176787" y="3952332"/>
            <a:ext cx="1834083" cy="356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3"/>
              </a:lnSpc>
            </a:pPr>
            <a:r>
              <a:rPr lang="en-US" b="true" sz="19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Convert to losses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941800" y="4400312"/>
            <a:ext cx="190574" cy="356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3"/>
              </a:lnSpc>
            </a:pPr>
            <a:r>
              <a:rPr lang="en-US" b="true" sz="19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↓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675385" y="4850320"/>
            <a:ext cx="2814042" cy="356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3"/>
              </a:lnSpc>
            </a:pPr>
            <a:r>
              <a:rPr lang="en-US" b="true" sz="19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Compute VaR(Percentile)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889755" y="5331952"/>
            <a:ext cx="190574" cy="356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3"/>
              </a:lnSpc>
            </a:pPr>
            <a:r>
              <a:rPr lang="en-US" b="true" sz="19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↓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306825" y="5652383"/>
            <a:ext cx="1269950" cy="356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3"/>
              </a:lnSpc>
            </a:pPr>
            <a:r>
              <a:rPr lang="en-US" b="true" sz="19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Backtesting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223365" y="6380426"/>
            <a:ext cx="86430" cy="201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36">
                <a:solidFill>
                  <a:srgbClr val="7F7F7F"/>
                </a:solidFill>
                <a:latin typeface="IBM Plex Sans"/>
                <a:ea typeface="IBM Plex Sans"/>
                <a:cs typeface="IBM Plex Sans"/>
                <a:sym typeface="IBM Plex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756397"/>
            <a:ext cx="12192000" cy="101603"/>
            <a:chOff x="0" y="0"/>
            <a:chExt cx="16256000" cy="1354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56000" cy="135509"/>
            </a:xfrm>
            <a:custGeom>
              <a:avLst/>
              <a:gdLst/>
              <a:ahLst/>
              <a:cxnLst/>
              <a:rect r="r" b="b" t="t" l="l"/>
              <a:pathLst>
                <a:path h="135509" w="16256000">
                  <a:moveTo>
                    <a:pt x="0" y="0"/>
                  </a:moveTo>
                  <a:lnTo>
                    <a:pt x="16256000" y="0"/>
                  </a:lnTo>
                  <a:lnTo>
                    <a:pt x="16256000" y="135509"/>
                  </a:lnTo>
                  <a:lnTo>
                    <a:pt x="0" y="135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58816" y="6038945"/>
            <a:ext cx="1365809" cy="598989"/>
            <a:chOff x="0" y="0"/>
            <a:chExt cx="1821078" cy="7986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1053" cy="798703"/>
            </a:xfrm>
            <a:custGeom>
              <a:avLst/>
              <a:gdLst/>
              <a:ahLst/>
              <a:cxnLst/>
              <a:rect r="r" b="b" t="t" l="l"/>
              <a:pathLst>
                <a:path h="798703" w="1821053">
                  <a:moveTo>
                    <a:pt x="0" y="0"/>
                  </a:moveTo>
                  <a:lnTo>
                    <a:pt x="1821053" y="0"/>
                  </a:lnTo>
                  <a:lnTo>
                    <a:pt x="1821053" y="798703"/>
                  </a:lnTo>
                  <a:lnTo>
                    <a:pt x="0" y="798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63" t="-164482" r="-72136" b="-164841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2063810" y="426606"/>
            <a:ext cx="7727842" cy="702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b="true" sz="4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Baseline System Pipeline Overview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04326" y="1616878"/>
            <a:ext cx="4582439" cy="834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1"/>
              </a:lnSpc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algn="l">
              <a:lnSpc>
                <a:spcPts val="4124"/>
              </a:lnSpc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Where Uncertainty Enters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223365" y="6380426"/>
            <a:ext cx="86430" cy="201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36">
                <a:solidFill>
                  <a:srgbClr val="7F7F7F"/>
                </a:solidFill>
                <a:latin typeface="IBM Plex Sans"/>
                <a:ea typeface="IBM Plex Sans"/>
                <a:cs typeface="IBM Plex Sans"/>
                <a:sym typeface="IBM Plex Sans"/>
              </a:rPr>
              <a:t>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41721" y="2424817"/>
            <a:ext cx="9205784" cy="1895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32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Generating ret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urns with random seeds probably leads to different outcomes each time. </a:t>
            </a:r>
          </a:p>
          <a:p>
            <a:pPr algn="l" marL="388620" indent="-194310" lvl="1">
              <a:lnSpc>
                <a:spcPts val="2532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simulation runs on a unique seed, so results may shift slightly between sessions. </a:t>
            </a:r>
          </a:p>
          <a:p>
            <a:pPr algn="l" marL="388620" indent="-194310" lvl="1">
              <a:lnSpc>
                <a:spcPts val="2532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normal distribution might not fit actual market patterns well - Mostly during volatility spikes. </a:t>
            </a:r>
          </a:p>
          <a:p>
            <a:pPr algn="l" marL="388620" indent="-194310" lvl="1">
              <a:lnSpc>
                <a:spcPts val="2532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Market movement in the future remains largely unknown and cannot be forecasted reliably.</a:t>
            </a:r>
          </a:p>
          <a:p>
            <a:pPr algn="l" marL="388620" indent="-194310" lvl="1">
              <a:lnSpc>
                <a:spcPts val="2532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only 10,000 simulations, the outcome depends on a small, limited sample size.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62232" y="4351077"/>
            <a:ext cx="2618482" cy="439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6" indent="-269873" lvl="1">
              <a:lnSpc>
                <a:spcPts val="3517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Our Approach: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18054" y="4905070"/>
            <a:ext cx="6877905" cy="1267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2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 randomization helps avoid false confidence in predictable results. We accept that outcomes are not fixed and vary naturally over time. Now, but we use varied seeds to reflect real-world unpredictability more accurately.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756397"/>
            <a:ext cx="12192000" cy="101603"/>
            <a:chOff x="0" y="0"/>
            <a:chExt cx="16256000" cy="1354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56000" cy="135509"/>
            </a:xfrm>
            <a:custGeom>
              <a:avLst/>
              <a:gdLst/>
              <a:ahLst/>
              <a:cxnLst/>
              <a:rect r="r" b="b" t="t" l="l"/>
              <a:pathLst>
                <a:path h="135509" w="16256000">
                  <a:moveTo>
                    <a:pt x="0" y="0"/>
                  </a:moveTo>
                  <a:lnTo>
                    <a:pt x="16256000" y="0"/>
                  </a:lnTo>
                  <a:lnTo>
                    <a:pt x="16256000" y="135509"/>
                  </a:lnTo>
                  <a:lnTo>
                    <a:pt x="0" y="135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58816" y="6038945"/>
            <a:ext cx="1365809" cy="598989"/>
            <a:chOff x="0" y="0"/>
            <a:chExt cx="1821078" cy="7986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1053" cy="798703"/>
            </a:xfrm>
            <a:custGeom>
              <a:avLst/>
              <a:gdLst/>
              <a:ahLst/>
              <a:cxnLst/>
              <a:rect r="r" b="b" t="t" l="l"/>
              <a:pathLst>
                <a:path h="798703" w="1821053">
                  <a:moveTo>
                    <a:pt x="0" y="0"/>
                  </a:moveTo>
                  <a:lnTo>
                    <a:pt x="1821053" y="0"/>
                  </a:lnTo>
                  <a:lnTo>
                    <a:pt x="1821053" y="798703"/>
                  </a:lnTo>
                  <a:lnTo>
                    <a:pt x="0" y="798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63" t="-164482" r="-72136" b="-164841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2873758" y="1720094"/>
            <a:ext cx="1295189" cy="305370"/>
          </a:xfrm>
          <a:custGeom>
            <a:avLst/>
            <a:gdLst/>
            <a:ahLst/>
            <a:cxnLst/>
            <a:rect r="r" b="b" t="t" l="l"/>
            <a:pathLst>
              <a:path h="305370" w="1295189">
                <a:moveTo>
                  <a:pt x="0" y="0"/>
                </a:moveTo>
                <a:lnTo>
                  <a:pt x="1295189" y="0"/>
                </a:lnTo>
                <a:lnTo>
                  <a:pt x="1295189" y="305370"/>
                </a:lnTo>
                <a:lnTo>
                  <a:pt x="0" y="3053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223346" y="6380407"/>
            <a:ext cx="86430" cy="201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36">
                <a:solidFill>
                  <a:srgbClr val="7F7F7F"/>
                </a:solidFill>
                <a:latin typeface="IBM Plex Sans"/>
                <a:ea typeface="IBM Plex Sans"/>
                <a:cs typeface="IBM Plex Sans"/>
                <a:sym typeface="IBM Plex Sans"/>
              </a:rPr>
              <a:t>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265252" y="-127240"/>
            <a:ext cx="5661496" cy="672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52"/>
              </a:lnSpc>
            </a:pPr>
            <a:r>
              <a:rPr lang="en-US" b="true" sz="2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Source of Uncertainty in VaR Simulation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48261" y="772812"/>
            <a:ext cx="2851547" cy="356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3"/>
              </a:lnSpc>
            </a:pPr>
            <a:r>
              <a:rPr lang="en-US" b="true" sz="19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1.Parameter Uncertainty: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75050" y="1072659"/>
            <a:ext cx="9432865" cy="952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32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c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ompute average return using 400 days of data. </a:t>
            </a:r>
          </a:p>
          <a:p>
            <a:pPr algn="l" marL="388620" indent="-194310" lvl="1">
              <a:lnSpc>
                <a:spcPts val="2532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Thats just one set of numbers - the real average might differ. </a:t>
            </a:r>
          </a:p>
          <a:p>
            <a:pPr algn="l" marL="388620" indent="-194310" lvl="1">
              <a:lnSpc>
                <a:spcPts val="2532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Formula :                          our result includes a margin of error.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85800" y="2000979"/>
            <a:ext cx="4325406" cy="356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3"/>
              </a:lnSpc>
              <a:spcBef>
                <a:spcPct val="0"/>
              </a:spcBef>
            </a:pPr>
            <a:r>
              <a:rPr lang="en-US" b="true" sz="19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2. Distrib</a:t>
            </a:r>
            <a:r>
              <a:rPr lang="en-US" b="true" sz="19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ution Uncertainty (Fat Tails):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85800" y="3510806"/>
            <a:ext cx="4602621" cy="356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3"/>
              </a:lnSpc>
              <a:spcBef>
                <a:spcPct val="0"/>
              </a:spcBef>
            </a:pPr>
            <a:r>
              <a:rPr lang="en-US" b="true" sz="19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3.Sampling Uncertainty(Fat Tails):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75050" y="3770868"/>
            <a:ext cx="7202123" cy="952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32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oing 10,000 runs produces slightly different VaR values each time.</a:t>
            </a:r>
          </a:p>
          <a:p>
            <a:pPr algn="l" marL="388620" indent="-194310" lvl="1">
              <a:lnSpc>
                <a:spcPts val="2532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Increasing the number of simulations leads to a more consistent result.</a:t>
            </a:r>
          </a:p>
          <a:p>
            <a:pPr algn="l">
              <a:lnSpc>
                <a:spcPts val="2532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6091238" y="3221926"/>
            <a:ext cx="9525" cy="356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3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685800" y="4366676"/>
            <a:ext cx="2579452" cy="356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3"/>
              </a:lnSpc>
              <a:spcBef>
                <a:spcPct val="0"/>
              </a:spcBef>
            </a:pPr>
            <a:r>
              <a:rPr lang="en-US" b="true" sz="19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4.Model Uncetainty: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75050" y="4666523"/>
            <a:ext cx="9183291" cy="638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32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 picks, XLK, MTUM, VLUE, may not include all possible risks. </a:t>
            </a:r>
          </a:p>
          <a:p>
            <a:pPr algn="l" marL="388620" indent="-194310" lvl="1">
              <a:lnSpc>
                <a:spcPts val="2532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idea that prices move in straight lines could be incorrect.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51199" y="5385635"/>
            <a:ext cx="10256717" cy="638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2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</a:t>
            </a:r>
            <a:r>
              <a:rPr lang="en-US" b="true" sz="18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ow randomization handles this: 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test every possible outcome instead of sticking to a single prediction.</a:t>
            </a:r>
          </a:p>
          <a:p>
            <a:pPr algn="l">
              <a:lnSpc>
                <a:spcPts val="2532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475050" y="2300826"/>
            <a:ext cx="6870145" cy="1267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32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Normal math says a 5% loss occurs once every 1,000 years. </a:t>
            </a:r>
          </a:p>
          <a:p>
            <a:pPr algn="l" marL="388620" indent="-194310" lvl="1">
              <a:lnSpc>
                <a:spcPts val="2532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reality, we’ve seen several crashes above 5% in the past ten years.</a:t>
            </a:r>
          </a:p>
          <a:p>
            <a:pPr algn="l" marL="388620" indent="-194310" lvl="1">
              <a:lnSpc>
                <a:spcPts val="2532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Markets show fat tails - big drops happen more frequently than expected.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756397"/>
            <a:ext cx="12192000" cy="101603"/>
            <a:chOff x="0" y="0"/>
            <a:chExt cx="16256000" cy="1354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56000" cy="135509"/>
            </a:xfrm>
            <a:custGeom>
              <a:avLst/>
              <a:gdLst/>
              <a:ahLst/>
              <a:cxnLst/>
              <a:rect r="r" b="b" t="t" l="l"/>
              <a:pathLst>
                <a:path h="135509" w="16256000">
                  <a:moveTo>
                    <a:pt x="0" y="0"/>
                  </a:moveTo>
                  <a:lnTo>
                    <a:pt x="16256000" y="0"/>
                  </a:lnTo>
                  <a:lnTo>
                    <a:pt x="16256000" y="135509"/>
                  </a:lnTo>
                  <a:lnTo>
                    <a:pt x="0" y="135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58816" y="6038945"/>
            <a:ext cx="1365809" cy="598989"/>
            <a:chOff x="0" y="0"/>
            <a:chExt cx="1821078" cy="7986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1053" cy="798703"/>
            </a:xfrm>
            <a:custGeom>
              <a:avLst/>
              <a:gdLst/>
              <a:ahLst/>
              <a:cxnLst/>
              <a:rect r="r" b="b" t="t" l="l"/>
              <a:pathLst>
                <a:path h="798703" w="1821053">
                  <a:moveTo>
                    <a:pt x="0" y="0"/>
                  </a:moveTo>
                  <a:lnTo>
                    <a:pt x="1821053" y="0"/>
                  </a:lnTo>
                  <a:lnTo>
                    <a:pt x="1821053" y="798703"/>
                  </a:lnTo>
                  <a:lnTo>
                    <a:pt x="0" y="798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63" t="-164482" r="-72136" b="-164841"/>
              </a:stretch>
            </a:blipFill>
          </p:spPr>
        </p:sp>
      </p:grp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132918" y="1090051"/>
          <a:ext cx="6459534" cy="1543050"/>
        </p:xfrm>
        <a:graphic>
          <a:graphicData uri="http://schemas.openxmlformats.org/drawingml/2006/table">
            <a:tbl>
              <a:tblPr/>
              <a:tblGrid>
                <a:gridCol w="3229767"/>
                <a:gridCol w="3229767"/>
              </a:tblGrid>
              <a:tr h="38576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 b="true">
                          <a:solidFill>
                            <a:srgbClr val="000000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Variable</a:t>
                      </a:r>
                      <a:endParaRPr lang="en-US" sz="1100"/>
                    </a:p>
                  </a:txBody>
                  <a:tcPr marL="57150" marR="57150" marT="57150" marB="571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 b="true">
                          <a:solidFill>
                            <a:srgbClr val="000000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Distribution</a:t>
                      </a:r>
                      <a:endParaRPr lang="en-US" sz="1100"/>
                    </a:p>
                  </a:txBody>
                  <a:tcPr marL="57150" marR="57150" marT="57150" marB="571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76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 b="true">
                          <a:solidFill>
                            <a:srgbClr val="000000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Portfolio Returns(R)</a:t>
                      </a:r>
                      <a:endParaRPr lang="en-US" sz="1100"/>
                    </a:p>
                  </a:txBody>
                  <a:tcPr marL="57150" marR="57150" marT="57150" marB="571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76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 b="true">
                          <a:solidFill>
                            <a:srgbClr val="000000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Loss(L)</a:t>
                      </a:r>
                      <a:endParaRPr lang="en-US" sz="1100"/>
                    </a:p>
                  </a:txBody>
                  <a:tcPr marL="57150" marR="57150" marT="57150" marB="571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76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 b="true">
                          <a:solidFill>
                            <a:srgbClr val="000000"/>
                          </a:solidFill>
                          <a:latin typeface="IBM Plex Sans Bold"/>
                          <a:ea typeface="IBM Plex Sans Bold"/>
                          <a:cs typeface="IBM Plex Sans Bold"/>
                          <a:sym typeface="IBM Plex Sans Bold"/>
                        </a:rPr>
                        <a:t>Simulated Returns</a:t>
                      </a:r>
                      <a:endParaRPr lang="en-US" sz="1100"/>
                    </a:p>
                  </a:txBody>
                  <a:tcPr marL="57150" marR="57150" marT="57150" marB="571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11223346" y="6380407"/>
            <a:ext cx="86430" cy="201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36">
                <a:solidFill>
                  <a:srgbClr val="7F7F7F"/>
                </a:solidFill>
                <a:latin typeface="IBM Plex Sans"/>
                <a:ea typeface="IBM Plex Sans"/>
                <a:cs typeface="IBM Plex Sans"/>
                <a:sym typeface="IBM Plex Sans"/>
              </a:rPr>
              <a:t>7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330558" y="269691"/>
            <a:ext cx="7681303" cy="410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b="true" sz="23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 PREPARATION &amp; PORTFOLIO CONSTRUCTION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72119" y="2971048"/>
            <a:ext cx="11019881" cy="638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32"/>
              </a:lnSpc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Assumpti</a:t>
            </a:r>
            <a:r>
              <a:rPr lang="en-US" b="true" sz="18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on 1 - Law of large Numbers :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we run 10,000 simulations, the results match the real distribution. This is like asking 10,000 people instead of 100, outcomes become consistent and accurate.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58816" y="2575951"/>
            <a:ext cx="2224757" cy="356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3"/>
              </a:lnSpc>
              <a:spcBef>
                <a:spcPct val="0"/>
              </a:spcBef>
            </a:pPr>
            <a:r>
              <a:rPr lang="en-US" b="true" sz="19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•  Assumptions: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32918" y="4476236"/>
            <a:ext cx="10437490" cy="638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32"/>
              </a:lnSpc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Assumpti</a:t>
            </a:r>
            <a:r>
              <a:rPr lang="en-US" b="true" sz="18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on 3 - Extreme Value Theory (EVT) :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Uncommon events follow different patterns than regular ones. An exponential model fits well for worst-case scenarios.It steps in when normal patterns break down.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85800" y="628650"/>
            <a:ext cx="3694817" cy="356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3"/>
              </a:lnSpc>
              <a:spcBef>
                <a:spcPct val="0"/>
              </a:spcBef>
            </a:pPr>
            <a:r>
              <a:rPr lang="en-US" b="true" sz="19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Random Variables in our Model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988211" y="1489840"/>
            <a:ext cx="1422623" cy="457772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979509" y="2187580"/>
            <a:ext cx="1527048" cy="477896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1160558" y="3723456"/>
            <a:ext cx="10437957" cy="638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32"/>
              </a:lnSpc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Assumption 2 -  Bootstrap Principle : 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Historical l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osses predict future losses. We pick randomly from past losses, replacing items as needed. This gives a close match without using math formulas.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32918" y="5229015"/>
            <a:ext cx="10633498" cy="638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32"/>
              </a:lnSpc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Assumpti</a:t>
            </a:r>
            <a:r>
              <a:rPr lang="en-US" b="true" sz="18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on 4 - Normal Distribution (for most days) 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 normal curve works well for 95% of daily results. It fails during the remaining 5% of extreme days.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098037" y="1856739"/>
            <a:ext cx="1088687" cy="37736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756397"/>
            <a:ext cx="12192000" cy="101603"/>
            <a:chOff x="0" y="0"/>
            <a:chExt cx="16256000" cy="1354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56000" cy="135509"/>
            </a:xfrm>
            <a:custGeom>
              <a:avLst/>
              <a:gdLst/>
              <a:ahLst/>
              <a:cxnLst/>
              <a:rect r="r" b="b" t="t" l="l"/>
              <a:pathLst>
                <a:path h="135509" w="16256000">
                  <a:moveTo>
                    <a:pt x="0" y="0"/>
                  </a:moveTo>
                  <a:lnTo>
                    <a:pt x="16256000" y="0"/>
                  </a:lnTo>
                  <a:lnTo>
                    <a:pt x="16256000" y="135509"/>
                  </a:lnTo>
                  <a:lnTo>
                    <a:pt x="0" y="135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58816" y="6038945"/>
            <a:ext cx="1365809" cy="598989"/>
            <a:chOff x="0" y="0"/>
            <a:chExt cx="1821078" cy="7986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1053" cy="798703"/>
            </a:xfrm>
            <a:custGeom>
              <a:avLst/>
              <a:gdLst/>
              <a:ahLst/>
              <a:cxnLst/>
              <a:rect r="r" b="b" t="t" l="l"/>
              <a:pathLst>
                <a:path h="798703" w="1821053">
                  <a:moveTo>
                    <a:pt x="0" y="0"/>
                  </a:moveTo>
                  <a:lnTo>
                    <a:pt x="1821053" y="0"/>
                  </a:lnTo>
                  <a:lnTo>
                    <a:pt x="1821053" y="798703"/>
                  </a:lnTo>
                  <a:lnTo>
                    <a:pt x="0" y="798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63" t="-164482" r="-72136" b="-164841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10248" y="2098937"/>
            <a:ext cx="5478489" cy="952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32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Simulated Returns:                      for i = 1 to 10,000</a:t>
            </a:r>
          </a:p>
          <a:p>
            <a:pPr algn="l" marL="388620" indent="-194310" lvl="1">
              <a:lnSpc>
                <a:spcPts val="2532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Simulated Losses:                   for       &lt;0</a:t>
            </a:r>
          </a:p>
          <a:p>
            <a:pPr algn="l" marL="388620" indent="-194310" lvl="1">
              <a:lnSpc>
                <a:spcPts val="2532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 Estimate:             = 95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percentile of 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404491" y="2105630"/>
            <a:ext cx="1328615" cy="415795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259244" y="2433644"/>
            <a:ext cx="1096354" cy="365752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748756" y="2501454"/>
            <a:ext cx="282640" cy="230133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512802" y="2807084"/>
            <a:ext cx="313793" cy="270807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994043" y="2814898"/>
            <a:ext cx="713128" cy="296271"/>
          </a:xfrm>
          <a:prstGeom prst="rect">
            <a:avLst/>
          </a:prstGeom>
        </p:spPr>
      </p:pic>
      <p:sp>
        <p:nvSpPr>
          <p:cNvPr name="Freeform 12" id="12"/>
          <p:cNvSpPr/>
          <p:nvPr/>
        </p:nvSpPr>
        <p:spPr>
          <a:xfrm flipH="false" flipV="false" rot="0">
            <a:off x="1486080" y="3398394"/>
            <a:ext cx="7534173" cy="1422075"/>
          </a:xfrm>
          <a:custGeom>
            <a:avLst/>
            <a:gdLst/>
            <a:ahLst/>
            <a:cxnLst/>
            <a:rect r="r" b="b" t="t" l="l"/>
            <a:pathLst>
              <a:path h="1422075" w="7534173">
                <a:moveTo>
                  <a:pt x="0" y="0"/>
                </a:moveTo>
                <a:lnTo>
                  <a:pt x="7534172" y="0"/>
                </a:lnTo>
                <a:lnTo>
                  <a:pt x="7534172" y="1422075"/>
                </a:lnTo>
                <a:lnTo>
                  <a:pt x="0" y="14220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1223346" y="6380407"/>
            <a:ext cx="86430" cy="201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36">
                <a:solidFill>
                  <a:srgbClr val="7F7F7F"/>
                </a:solidFill>
                <a:latin typeface="IBM Plex Sans"/>
                <a:ea typeface="IBM Plex Sans"/>
                <a:cs typeface="IBM Plex Sans"/>
                <a:sym typeface="IBM Plex Sans"/>
              </a:rPr>
              <a:t>8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213687" y="260366"/>
            <a:ext cx="6547024" cy="408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b="true" sz="23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Probabilistic Modeling with Deterministic  Decisions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92944" y="628650"/>
            <a:ext cx="3419773" cy="356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3"/>
              </a:lnSpc>
              <a:spcBef>
                <a:spcPct val="0"/>
              </a:spcBef>
            </a:pPr>
            <a:r>
              <a:rPr lang="en-US" b="true" sz="19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Our Approach - Hybrid Model: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78156" y="3013642"/>
            <a:ext cx="2969587" cy="356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3"/>
              </a:lnSpc>
              <a:spcBef>
                <a:spcPct val="0"/>
              </a:spcBef>
            </a:pPr>
            <a:r>
              <a:rPr lang="en-US" b="true" sz="19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Code Implementation: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85800" y="1745551"/>
            <a:ext cx="4322042" cy="356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3"/>
              </a:lnSpc>
              <a:spcBef>
                <a:spcPct val="0"/>
              </a:spcBef>
            </a:pPr>
            <a:r>
              <a:rPr lang="en-US" b="true" sz="19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Mathematical Formulation: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92944" y="4791075"/>
            <a:ext cx="2224757" cy="356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3"/>
              </a:lnSpc>
              <a:spcBef>
                <a:spcPct val="0"/>
              </a:spcBef>
            </a:pPr>
            <a:r>
              <a:rPr lang="en-US" b="true" sz="19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Why it Works: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94027" y="5090922"/>
            <a:ext cx="10215749" cy="952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2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Randomness reflects real-world return uncertainty. The rule ensures every analysis stays consistent. Combined, they produce reliable risk estimates.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model handles variation without distortion. It maintains clarity in every outcome.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41721" y="947547"/>
            <a:ext cx="6066513" cy="952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32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create 10,000 random return scenarios. </a:t>
            </a:r>
          </a:p>
          <a:p>
            <a:pPr algn="l" marL="388620" indent="-194310" lvl="1">
              <a:lnSpc>
                <a:spcPts val="2532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apply a fixed decision rule: VaR equals the percentile of losses.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756397"/>
            <a:ext cx="12192000" cy="101603"/>
            <a:chOff x="0" y="0"/>
            <a:chExt cx="16256000" cy="1354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56000" cy="135509"/>
            </a:xfrm>
            <a:custGeom>
              <a:avLst/>
              <a:gdLst/>
              <a:ahLst/>
              <a:cxnLst/>
              <a:rect r="r" b="b" t="t" l="l"/>
              <a:pathLst>
                <a:path h="135509" w="16256000">
                  <a:moveTo>
                    <a:pt x="0" y="0"/>
                  </a:moveTo>
                  <a:lnTo>
                    <a:pt x="16256000" y="0"/>
                  </a:lnTo>
                  <a:lnTo>
                    <a:pt x="16256000" y="135509"/>
                  </a:lnTo>
                  <a:lnTo>
                    <a:pt x="0" y="135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58816" y="6038945"/>
            <a:ext cx="1365809" cy="598989"/>
            <a:chOff x="0" y="0"/>
            <a:chExt cx="1821078" cy="7986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1053" cy="798703"/>
            </a:xfrm>
            <a:custGeom>
              <a:avLst/>
              <a:gdLst/>
              <a:ahLst/>
              <a:cxnLst/>
              <a:rect r="r" b="b" t="t" l="l"/>
              <a:pathLst>
                <a:path h="798703" w="1821053">
                  <a:moveTo>
                    <a:pt x="0" y="0"/>
                  </a:moveTo>
                  <a:lnTo>
                    <a:pt x="1821053" y="0"/>
                  </a:lnTo>
                  <a:lnTo>
                    <a:pt x="1821053" y="798703"/>
                  </a:lnTo>
                  <a:lnTo>
                    <a:pt x="0" y="798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63" t="-164482" r="-72136" b="-16484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4941" y="655634"/>
            <a:ext cx="11799789" cy="5482961"/>
            <a:chOff x="0" y="0"/>
            <a:chExt cx="11799786" cy="548297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5895084" y="63500"/>
              <a:ext cx="9525" cy="5355976"/>
            </a:xfrm>
            <a:custGeom>
              <a:avLst/>
              <a:gdLst/>
              <a:ahLst/>
              <a:cxnLst/>
              <a:rect r="r" b="b" t="t" l="l"/>
              <a:pathLst>
                <a:path h="5355976" w="9525">
                  <a:moveTo>
                    <a:pt x="0" y="0"/>
                  </a:moveTo>
                  <a:lnTo>
                    <a:pt x="0" y="5355976"/>
                  </a:lnTo>
                  <a:lnTo>
                    <a:pt x="9525" y="5355976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B6B6B6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3500" y="63500"/>
              <a:ext cx="9525" cy="5355976"/>
            </a:xfrm>
            <a:custGeom>
              <a:avLst/>
              <a:gdLst/>
              <a:ahLst/>
              <a:cxnLst/>
              <a:rect r="r" b="b" t="t" l="l"/>
              <a:pathLst>
                <a:path h="5355976" w="9525">
                  <a:moveTo>
                    <a:pt x="0" y="0"/>
                  </a:moveTo>
                  <a:lnTo>
                    <a:pt x="0" y="5355976"/>
                  </a:lnTo>
                  <a:lnTo>
                    <a:pt x="9525" y="5355976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B6B6B6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1726794" y="63500"/>
              <a:ext cx="9525" cy="5355976"/>
            </a:xfrm>
            <a:custGeom>
              <a:avLst/>
              <a:gdLst/>
              <a:ahLst/>
              <a:cxnLst/>
              <a:rect r="r" b="b" t="t" l="l"/>
              <a:pathLst>
                <a:path h="5355976" w="9525">
                  <a:moveTo>
                    <a:pt x="0" y="0"/>
                  </a:moveTo>
                  <a:lnTo>
                    <a:pt x="0" y="5355976"/>
                  </a:lnTo>
                  <a:lnTo>
                    <a:pt x="9525" y="5355976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B6B6B6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3500" y="63500"/>
              <a:ext cx="11672819" cy="9525"/>
            </a:xfrm>
            <a:custGeom>
              <a:avLst/>
              <a:gdLst/>
              <a:ahLst/>
              <a:cxnLst/>
              <a:rect r="r" b="b" t="t" l="l"/>
              <a:pathLst>
                <a:path h="9525" w="11672819">
                  <a:moveTo>
                    <a:pt x="0" y="0"/>
                  </a:moveTo>
                  <a:lnTo>
                    <a:pt x="0" y="9525"/>
                  </a:lnTo>
                  <a:lnTo>
                    <a:pt x="11672819" y="9525"/>
                  </a:lnTo>
                  <a:lnTo>
                    <a:pt x="11672819" y="0"/>
                  </a:lnTo>
                  <a:close/>
                </a:path>
              </a:pathLst>
            </a:custGeom>
            <a:solidFill>
              <a:srgbClr val="B6B6B6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63500" y="5409951"/>
              <a:ext cx="11672819" cy="9525"/>
            </a:xfrm>
            <a:custGeom>
              <a:avLst/>
              <a:gdLst/>
              <a:ahLst/>
              <a:cxnLst/>
              <a:rect r="r" b="b" t="t" l="l"/>
              <a:pathLst>
                <a:path h="9525" w="11672819">
                  <a:moveTo>
                    <a:pt x="0" y="0"/>
                  </a:moveTo>
                  <a:lnTo>
                    <a:pt x="0" y="9525"/>
                  </a:lnTo>
                  <a:lnTo>
                    <a:pt x="11672819" y="9525"/>
                  </a:lnTo>
                  <a:lnTo>
                    <a:pt x="11672819" y="0"/>
                  </a:lnTo>
                  <a:close/>
                </a:path>
              </a:pathLst>
            </a:custGeom>
            <a:solidFill>
              <a:srgbClr val="B6B6B6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29645" y="1447505"/>
            <a:ext cx="3487588" cy="1998212"/>
            <a:chOff x="0" y="0"/>
            <a:chExt cx="4650118" cy="266428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650105" cy="2664333"/>
            </a:xfrm>
            <a:custGeom>
              <a:avLst/>
              <a:gdLst/>
              <a:ahLst/>
              <a:cxnLst/>
              <a:rect r="r" b="b" t="t" l="l"/>
              <a:pathLst>
                <a:path h="2664333" w="4650105">
                  <a:moveTo>
                    <a:pt x="0" y="0"/>
                  </a:moveTo>
                  <a:lnTo>
                    <a:pt x="4650105" y="0"/>
                  </a:lnTo>
                  <a:lnTo>
                    <a:pt x="4650105" y="2664333"/>
                  </a:lnTo>
                  <a:lnTo>
                    <a:pt x="0" y="26643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01472" y="3825554"/>
            <a:ext cx="5465636" cy="1838125"/>
            <a:chOff x="0" y="0"/>
            <a:chExt cx="7287514" cy="245083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287514" cy="2450846"/>
            </a:xfrm>
            <a:custGeom>
              <a:avLst/>
              <a:gdLst/>
              <a:ahLst/>
              <a:cxnLst/>
              <a:rect r="r" b="b" t="t" l="l"/>
              <a:pathLst>
                <a:path h="2450846" w="7287514">
                  <a:moveTo>
                    <a:pt x="0" y="0"/>
                  </a:moveTo>
                  <a:lnTo>
                    <a:pt x="7287514" y="0"/>
                  </a:lnTo>
                  <a:lnTo>
                    <a:pt x="7287514" y="2450846"/>
                  </a:lnTo>
                  <a:lnTo>
                    <a:pt x="0" y="24508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369520" y="1976218"/>
            <a:ext cx="5209775" cy="3451384"/>
            <a:chOff x="0" y="0"/>
            <a:chExt cx="6946367" cy="460184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946392" cy="4601845"/>
            </a:xfrm>
            <a:custGeom>
              <a:avLst/>
              <a:gdLst/>
              <a:ahLst/>
              <a:cxnLst/>
              <a:rect r="r" b="b" t="t" l="l"/>
              <a:pathLst>
                <a:path h="4601845" w="6946392">
                  <a:moveTo>
                    <a:pt x="0" y="0"/>
                  </a:moveTo>
                  <a:lnTo>
                    <a:pt x="6946392" y="0"/>
                  </a:lnTo>
                  <a:lnTo>
                    <a:pt x="6946392" y="4601845"/>
                  </a:lnTo>
                  <a:lnTo>
                    <a:pt x="0" y="46018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1223346" y="6380407"/>
            <a:ext cx="86430" cy="201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36">
                <a:solidFill>
                  <a:srgbClr val="7F7F7F"/>
                </a:solidFill>
                <a:latin typeface="IBM Plex Sans"/>
                <a:ea typeface="IBM Plex Sans"/>
                <a:cs typeface="IBM Plex Sans"/>
                <a:sym typeface="IBM Plex Sans"/>
              </a:rPr>
              <a:t>9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545271" y="176384"/>
            <a:ext cx="6904006" cy="410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b="true" sz="23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VARIANCE DECOMPOSITION &amp; RISK ANALYSIS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205971" y="928707"/>
            <a:ext cx="1862652" cy="430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0070C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Code Snippet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456571" y="1081107"/>
            <a:ext cx="1088917" cy="430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00B05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Output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756397"/>
            <a:ext cx="12192000" cy="101603"/>
            <a:chOff x="0" y="0"/>
            <a:chExt cx="16256000" cy="1354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56000" cy="135509"/>
            </a:xfrm>
            <a:custGeom>
              <a:avLst/>
              <a:gdLst/>
              <a:ahLst/>
              <a:cxnLst/>
              <a:rect r="r" b="b" t="t" l="l"/>
              <a:pathLst>
                <a:path h="135509" w="16256000">
                  <a:moveTo>
                    <a:pt x="0" y="0"/>
                  </a:moveTo>
                  <a:lnTo>
                    <a:pt x="16256000" y="0"/>
                  </a:lnTo>
                  <a:lnTo>
                    <a:pt x="16256000" y="135509"/>
                  </a:lnTo>
                  <a:lnTo>
                    <a:pt x="0" y="135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58816" y="6038945"/>
            <a:ext cx="1365809" cy="598989"/>
            <a:chOff x="0" y="0"/>
            <a:chExt cx="1821078" cy="7986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1053" cy="798703"/>
            </a:xfrm>
            <a:custGeom>
              <a:avLst/>
              <a:gdLst/>
              <a:ahLst/>
              <a:cxnLst/>
              <a:rect r="r" b="b" t="t" l="l"/>
              <a:pathLst>
                <a:path h="798703" w="1821053">
                  <a:moveTo>
                    <a:pt x="0" y="0"/>
                  </a:moveTo>
                  <a:lnTo>
                    <a:pt x="1821053" y="0"/>
                  </a:lnTo>
                  <a:lnTo>
                    <a:pt x="1821053" y="798703"/>
                  </a:lnTo>
                  <a:lnTo>
                    <a:pt x="0" y="798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63" t="-164482" r="-72136" b="-16484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4941" y="655634"/>
            <a:ext cx="11799789" cy="5482961"/>
            <a:chOff x="0" y="0"/>
            <a:chExt cx="11799786" cy="548297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5895084" y="63500"/>
              <a:ext cx="9525" cy="5355976"/>
            </a:xfrm>
            <a:custGeom>
              <a:avLst/>
              <a:gdLst/>
              <a:ahLst/>
              <a:cxnLst/>
              <a:rect r="r" b="b" t="t" l="l"/>
              <a:pathLst>
                <a:path h="5355976" w="9525">
                  <a:moveTo>
                    <a:pt x="0" y="0"/>
                  </a:moveTo>
                  <a:lnTo>
                    <a:pt x="0" y="5355976"/>
                  </a:lnTo>
                  <a:lnTo>
                    <a:pt x="9525" y="5355976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B6B6B6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3500" y="63500"/>
              <a:ext cx="9525" cy="5355976"/>
            </a:xfrm>
            <a:custGeom>
              <a:avLst/>
              <a:gdLst/>
              <a:ahLst/>
              <a:cxnLst/>
              <a:rect r="r" b="b" t="t" l="l"/>
              <a:pathLst>
                <a:path h="5355976" w="9525">
                  <a:moveTo>
                    <a:pt x="0" y="0"/>
                  </a:moveTo>
                  <a:lnTo>
                    <a:pt x="0" y="5355976"/>
                  </a:lnTo>
                  <a:lnTo>
                    <a:pt x="9525" y="5355976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B6B6B6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1726794" y="63500"/>
              <a:ext cx="9525" cy="5355976"/>
            </a:xfrm>
            <a:custGeom>
              <a:avLst/>
              <a:gdLst/>
              <a:ahLst/>
              <a:cxnLst/>
              <a:rect r="r" b="b" t="t" l="l"/>
              <a:pathLst>
                <a:path h="5355976" w="9525">
                  <a:moveTo>
                    <a:pt x="0" y="0"/>
                  </a:moveTo>
                  <a:lnTo>
                    <a:pt x="0" y="5355976"/>
                  </a:lnTo>
                  <a:lnTo>
                    <a:pt x="9525" y="5355976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B6B6B6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3500" y="63500"/>
              <a:ext cx="11672819" cy="9525"/>
            </a:xfrm>
            <a:custGeom>
              <a:avLst/>
              <a:gdLst/>
              <a:ahLst/>
              <a:cxnLst/>
              <a:rect r="r" b="b" t="t" l="l"/>
              <a:pathLst>
                <a:path h="9525" w="11672819">
                  <a:moveTo>
                    <a:pt x="0" y="0"/>
                  </a:moveTo>
                  <a:lnTo>
                    <a:pt x="0" y="9525"/>
                  </a:lnTo>
                  <a:lnTo>
                    <a:pt x="11672819" y="9525"/>
                  </a:lnTo>
                  <a:lnTo>
                    <a:pt x="11672819" y="0"/>
                  </a:lnTo>
                  <a:close/>
                </a:path>
              </a:pathLst>
            </a:custGeom>
            <a:solidFill>
              <a:srgbClr val="B6B6B6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63500" y="5409951"/>
              <a:ext cx="11672819" cy="9525"/>
            </a:xfrm>
            <a:custGeom>
              <a:avLst/>
              <a:gdLst/>
              <a:ahLst/>
              <a:cxnLst/>
              <a:rect r="r" b="b" t="t" l="l"/>
              <a:pathLst>
                <a:path h="9525" w="11672819">
                  <a:moveTo>
                    <a:pt x="0" y="0"/>
                  </a:moveTo>
                  <a:lnTo>
                    <a:pt x="0" y="9525"/>
                  </a:lnTo>
                  <a:lnTo>
                    <a:pt x="11672819" y="9525"/>
                  </a:lnTo>
                  <a:lnTo>
                    <a:pt x="11672819" y="0"/>
                  </a:lnTo>
                  <a:close/>
                </a:path>
              </a:pathLst>
            </a:custGeom>
            <a:solidFill>
              <a:srgbClr val="B6B6B6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53738" y="3577790"/>
            <a:ext cx="4754585" cy="2300497"/>
            <a:chOff x="0" y="0"/>
            <a:chExt cx="6339446" cy="30673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39459" cy="3067304"/>
            </a:xfrm>
            <a:custGeom>
              <a:avLst/>
              <a:gdLst/>
              <a:ahLst/>
              <a:cxnLst/>
              <a:rect r="r" b="b" t="t" l="l"/>
              <a:pathLst>
                <a:path h="3067304" w="6339459">
                  <a:moveTo>
                    <a:pt x="0" y="0"/>
                  </a:moveTo>
                  <a:lnTo>
                    <a:pt x="6339459" y="0"/>
                  </a:lnTo>
                  <a:lnTo>
                    <a:pt x="6339459" y="3067304"/>
                  </a:lnTo>
                  <a:lnTo>
                    <a:pt x="0" y="3067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671386" y="1235126"/>
            <a:ext cx="4749279" cy="2308536"/>
            <a:chOff x="0" y="0"/>
            <a:chExt cx="6332372" cy="307804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32347" cy="3078099"/>
            </a:xfrm>
            <a:custGeom>
              <a:avLst/>
              <a:gdLst/>
              <a:ahLst/>
              <a:cxnLst/>
              <a:rect r="r" b="b" t="t" l="l"/>
              <a:pathLst>
                <a:path h="3078099" w="6332347">
                  <a:moveTo>
                    <a:pt x="0" y="0"/>
                  </a:moveTo>
                  <a:lnTo>
                    <a:pt x="6332347" y="0"/>
                  </a:lnTo>
                  <a:lnTo>
                    <a:pt x="6332347" y="3078099"/>
                  </a:lnTo>
                  <a:lnTo>
                    <a:pt x="0" y="30780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1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722154" y="3763442"/>
            <a:ext cx="4698521" cy="2174443"/>
            <a:chOff x="0" y="0"/>
            <a:chExt cx="6264694" cy="289925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264656" cy="2899283"/>
            </a:xfrm>
            <a:custGeom>
              <a:avLst/>
              <a:gdLst/>
              <a:ahLst/>
              <a:cxnLst/>
              <a:rect r="r" b="b" t="t" l="l"/>
              <a:pathLst>
                <a:path h="2899283" w="6264656">
                  <a:moveTo>
                    <a:pt x="0" y="0"/>
                  </a:moveTo>
                  <a:lnTo>
                    <a:pt x="6264656" y="0"/>
                  </a:lnTo>
                  <a:lnTo>
                    <a:pt x="6264656" y="2899283"/>
                  </a:lnTo>
                  <a:lnTo>
                    <a:pt x="0" y="28992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795520" y="1537173"/>
            <a:ext cx="3071012" cy="1854003"/>
            <a:chOff x="0" y="0"/>
            <a:chExt cx="4094683" cy="247200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094734" cy="2472055"/>
            </a:xfrm>
            <a:custGeom>
              <a:avLst/>
              <a:gdLst/>
              <a:ahLst/>
              <a:cxnLst/>
              <a:rect r="r" b="b" t="t" l="l"/>
              <a:pathLst>
                <a:path h="2472055" w="4094734">
                  <a:moveTo>
                    <a:pt x="0" y="0"/>
                  </a:moveTo>
                  <a:lnTo>
                    <a:pt x="4094734" y="0"/>
                  </a:lnTo>
                  <a:lnTo>
                    <a:pt x="4094734" y="2472055"/>
                  </a:lnTo>
                  <a:lnTo>
                    <a:pt x="0" y="24720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1" b="2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1138611" y="6380407"/>
            <a:ext cx="172860" cy="201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36">
                <a:solidFill>
                  <a:srgbClr val="7F7F7F"/>
                </a:solidFill>
                <a:latin typeface="IBM Plex Sans"/>
                <a:ea typeface="IBM Plex Sans"/>
                <a:cs typeface="IBM Plex Sans"/>
                <a:sym typeface="IBM Plex Sans"/>
              </a:rPr>
              <a:t>10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109760" y="223037"/>
            <a:ext cx="6324686" cy="410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b="true" sz="23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LOSS DISTRIBUTION &amp; VAR CALCULATION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205971" y="928707"/>
            <a:ext cx="1862652" cy="430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0070C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Code Snippet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706849" y="725510"/>
            <a:ext cx="2537298" cy="430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00B05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Graph-Simulation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756397"/>
            <a:ext cx="12192000" cy="101603"/>
            <a:chOff x="0" y="0"/>
            <a:chExt cx="16256000" cy="1354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56000" cy="135509"/>
            </a:xfrm>
            <a:custGeom>
              <a:avLst/>
              <a:gdLst/>
              <a:ahLst/>
              <a:cxnLst/>
              <a:rect r="r" b="b" t="t" l="l"/>
              <a:pathLst>
                <a:path h="135509" w="16256000">
                  <a:moveTo>
                    <a:pt x="0" y="0"/>
                  </a:moveTo>
                  <a:lnTo>
                    <a:pt x="16256000" y="0"/>
                  </a:lnTo>
                  <a:lnTo>
                    <a:pt x="16256000" y="135509"/>
                  </a:lnTo>
                  <a:lnTo>
                    <a:pt x="0" y="135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58816" y="6038945"/>
            <a:ext cx="1365809" cy="598989"/>
            <a:chOff x="0" y="0"/>
            <a:chExt cx="1821078" cy="7986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1053" cy="798703"/>
            </a:xfrm>
            <a:custGeom>
              <a:avLst/>
              <a:gdLst/>
              <a:ahLst/>
              <a:cxnLst/>
              <a:rect r="r" b="b" t="t" l="l"/>
              <a:pathLst>
                <a:path h="798703" w="1821053">
                  <a:moveTo>
                    <a:pt x="0" y="0"/>
                  </a:moveTo>
                  <a:lnTo>
                    <a:pt x="1821053" y="0"/>
                  </a:lnTo>
                  <a:lnTo>
                    <a:pt x="1821053" y="798703"/>
                  </a:lnTo>
                  <a:lnTo>
                    <a:pt x="0" y="798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63" t="-164482" r="-72136" b="-164841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3232147" y="1441447"/>
            <a:ext cx="6178048" cy="3838851"/>
          </a:xfrm>
          <a:custGeom>
            <a:avLst/>
            <a:gdLst/>
            <a:ahLst/>
            <a:cxnLst/>
            <a:rect r="r" b="b" t="t" l="l"/>
            <a:pathLst>
              <a:path h="3838851" w="6178048">
                <a:moveTo>
                  <a:pt x="0" y="0"/>
                </a:moveTo>
                <a:lnTo>
                  <a:pt x="6178048" y="0"/>
                </a:lnTo>
                <a:lnTo>
                  <a:pt x="6178048" y="3838851"/>
                </a:lnTo>
                <a:lnTo>
                  <a:pt x="0" y="38388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138611" y="6380407"/>
            <a:ext cx="172860" cy="201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36">
                <a:solidFill>
                  <a:srgbClr val="7F7F7F"/>
                </a:solidFill>
                <a:latin typeface="IBM Plex Sans"/>
                <a:ea typeface="IBM Plex Sans"/>
                <a:cs typeface="IBM Plex Sans"/>
                <a:sym typeface="IBM Plex Sans"/>
              </a:rPr>
              <a:t>11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683070" y="1595923"/>
            <a:ext cx="2302250" cy="1216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9"/>
              </a:lnSpc>
            </a:pPr>
            <a:r>
              <a:rPr lang="en-US" b="true" sz="17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Metric</a:t>
            </a:r>
          </a:p>
          <a:p>
            <a:pPr algn="ctr">
              <a:lnSpc>
                <a:spcPts val="3544"/>
              </a:lnSpc>
            </a:pPr>
            <a:r>
              <a:rPr lang="en-U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Expected Return (µ_R) Portfolio Volatility (σ_R)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260707" y="1599733"/>
            <a:ext cx="1163412" cy="1216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9"/>
              </a:lnSpc>
            </a:pPr>
            <a:r>
              <a:rPr lang="en-US" b="true" sz="17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Daily Value</a:t>
            </a:r>
          </a:p>
          <a:p>
            <a:pPr algn="ctr">
              <a:lnSpc>
                <a:spcPts val="3544"/>
              </a:lnSpc>
            </a:pPr>
            <a:r>
              <a:rPr lang="en-U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0.0004% 0.0151%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429429" y="2920098"/>
            <a:ext cx="2819714" cy="483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0"/>
              </a:lnSpc>
            </a:pPr>
            <a:r>
              <a:rPr lang="en-U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Loss Distribution Mean (µ_L)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599631" y="3503657"/>
            <a:ext cx="2533698" cy="483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0"/>
              </a:lnSpc>
            </a:pPr>
            <a:r>
              <a:rPr lang="en-U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Loss Distribution Std Dev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363555" y="4081510"/>
            <a:ext cx="914171" cy="1054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0"/>
              </a:lnSpc>
            </a:pPr>
            <a:r>
              <a:rPr lang="en-U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(σ_L)</a:t>
            </a:r>
          </a:p>
          <a:p>
            <a:pPr algn="ctr">
              <a:lnSpc>
                <a:spcPts val="4250"/>
              </a:lnSpc>
            </a:pPr>
            <a:r>
              <a:rPr lang="en-U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95% VaR</a:t>
            </a:r>
          </a:p>
          <a:p>
            <a:pPr algn="ctr">
              <a:lnSpc>
                <a:spcPts val="2849"/>
              </a:lnSpc>
            </a:pPr>
            <a:r>
              <a:rPr lang="en-U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99% VaR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404602" y="3621767"/>
            <a:ext cx="869461" cy="483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0"/>
              </a:lnSpc>
            </a:pPr>
            <a:r>
              <a:rPr lang="en-U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0.0151%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404602" y="4205326"/>
            <a:ext cx="869461" cy="933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50"/>
              </a:lnSpc>
            </a:pPr>
            <a:r>
              <a:rPr lang="en-U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0.0243%</a:t>
            </a:r>
          </a:p>
          <a:p>
            <a:pPr algn="just">
              <a:lnSpc>
                <a:spcPts val="2849"/>
              </a:lnSpc>
            </a:pPr>
            <a:r>
              <a:rPr lang="en-U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0.0346%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368654" y="2911211"/>
            <a:ext cx="942708" cy="483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0"/>
              </a:lnSpc>
            </a:pPr>
            <a:r>
              <a:rPr lang="en-U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-0.0004%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982839" y="468116"/>
            <a:ext cx="6324686" cy="410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b="true" sz="23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LOSS DISTRIBUTION &amp; VAR CALCULATION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756397"/>
            <a:ext cx="12192000" cy="101603"/>
            <a:chOff x="0" y="0"/>
            <a:chExt cx="16256000" cy="1354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56000" cy="135509"/>
            </a:xfrm>
            <a:custGeom>
              <a:avLst/>
              <a:gdLst/>
              <a:ahLst/>
              <a:cxnLst/>
              <a:rect r="r" b="b" t="t" l="l"/>
              <a:pathLst>
                <a:path h="135509" w="16256000">
                  <a:moveTo>
                    <a:pt x="0" y="0"/>
                  </a:moveTo>
                  <a:lnTo>
                    <a:pt x="16256000" y="0"/>
                  </a:lnTo>
                  <a:lnTo>
                    <a:pt x="16256000" y="135509"/>
                  </a:lnTo>
                  <a:lnTo>
                    <a:pt x="0" y="135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58816" y="6038945"/>
            <a:ext cx="1365809" cy="598989"/>
            <a:chOff x="0" y="0"/>
            <a:chExt cx="1821078" cy="7986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1053" cy="798703"/>
            </a:xfrm>
            <a:custGeom>
              <a:avLst/>
              <a:gdLst/>
              <a:ahLst/>
              <a:cxnLst/>
              <a:rect r="r" b="b" t="t" l="l"/>
              <a:pathLst>
                <a:path h="798703" w="1821053">
                  <a:moveTo>
                    <a:pt x="0" y="0"/>
                  </a:moveTo>
                  <a:lnTo>
                    <a:pt x="1821053" y="0"/>
                  </a:lnTo>
                  <a:lnTo>
                    <a:pt x="1821053" y="798703"/>
                  </a:lnTo>
                  <a:lnTo>
                    <a:pt x="0" y="798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63" t="-164482" r="-72136" b="-16484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4941" y="655634"/>
            <a:ext cx="11799789" cy="5482961"/>
            <a:chOff x="0" y="0"/>
            <a:chExt cx="11799786" cy="548297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5895084" y="63500"/>
              <a:ext cx="9525" cy="5355976"/>
            </a:xfrm>
            <a:custGeom>
              <a:avLst/>
              <a:gdLst/>
              <a:ahLst/>
              <a:cxnLst/>
              <a:rect r="r" b="b" t="t" l="l"/>
              <a:pathLst>
                <a:path h="5355976" w="9525">
                  <a:moveTo>
                    <a:pt x="0" y="0"/>
                  </a:moveTo>
                  <a:lnTo>
                    <a:pt x="0" y="5355976"/>
                  </a:lnTo>
                  <a:lnTo>
                    <a:pt x="9525" y="5355976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B6B6B6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3500" y="63500"/>
              <a:ext cx="9525" cy="5355976"/>
            </a:xfrm>
            <a:custGeom>
              <a:avLst/>
              <a:gdLst/>
              <a:ahLst/>
              <a:cxnLst/>
              <a:rect r="r" b="b" t="t" l="l"/>
              <a:pathLst>
                <a:path h="5355976" w="9525">
                  <a:moveTo>
                    <a:pt x="0" y="0"/>
                  </a:moveTo>
                  <a:lnTo>
                    <a:pt x="0" y="5355976"/>
                  </a:lnTo>
                  <a:lnTo>
                    <a:pt x="9525" y="5355976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B6B6B6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1726794" y="63500"/>
              <a:ext cx="9525" cy="5355976"/>
            </a:xfrm>
            <a:custGeom>
              <a:avLst/>
              <a:gdLst/>
              <a:ahLst/>
              <a:cxnLst/>
              <a:rect r="r" b="b" t="t" l="l"/>
              <a:pathLst>
                <a:path h="5355976" w="9525">
                  <a:moveTo>
                    <a:pt x="0" y="0"/>
                  </a:moveTo>
                  <a:lnTo>
                    <a:pt x="0" y="5355976"/>
                  </a:lnTo>
                  <a:lnTo>
                    <a:pt x="9525" y="5355976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B6B6B6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3500" y="63500"/>
              <a:ext cx="11672819" cy="9525"/>
            </a:xfrm>
            <a:custGeom>
              <a:avLst/>
              <a:gdLst/>
              <a:ahLst/>
              <a:cxnLst/>
              <a:rect r="r" b="b" t="t" l="l"/>
              <a:pathLst>
                <a:path h="9525" w="11672819">
                  <a:moveTo>
                    <a:pt x="0" y="0"/>
                  </a:moveTo>
                  <a:lnTo>
                    <a:pt x="0" y="9525"/>
                  </a:lnTo>
                  <a:lnTo>
                    <a:pt x="11672819" y="9525"/>
                  </a:lnTo>
                  <a:lnTo>
                    <a:pt x="11672819" y="0"/>
                  </a:lnTo>
                  <a:close/>
                </a:path>
              </a:pathLst>
            </a:custGeom>
            <a:solidFill>
              <a:srgbClr val="B6B6B6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63500" y="5409951"/>
              <a:ext cx="11672819" cy="9525"/>
            </a:xfrm>
            <a:custGeom>
              <a:avLst/>
              <a:gdLst/>
              <a:ahLst/>
              <a:cxnLst/>
              <a:rect r="r" b="b" t="t" l="l"/>
              <a:pathLst>
                <a:path h="9525" w="11672819">
                  <a:moveTo>
                    <a:pt x="0" y="0"/>
                  </a:moveTo>
                  <a:lnTo>
                    <a:pt x="0" y="9525"/>
                  </a:lnTo>
                  <a:lnTo>
                    <a:pt x="11672819" y="9525"/>
                  </a:lnTo>
                  <a:lnTo>
                    <a:pt x="11672819" y="0"/>
                  </a:lnTo>
                  <a:close/>
                </a:path>
              </a:pathLst>
            </a:custGeom>
            <a:solidFill>
              <a:srgbClr val="B6B6B6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88203" y="1518676"/>
            <a:ext cx="4287002" cy="1661989"/>
            <a:chOff x="0" y="0"/>
            <a:chExt cx="5716003" cy="221598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716016" cy="2216023"/>
            </a:xfrm>
            <a:custGeom>
              <a:avLst/>
              <a:gdLst/>
              <a:ahLst/>
              <a:cxnLst/>
              <a:rect r="r" b="b" t="t" l="l"/>
              <a:pathLst>
                <a:path h="2216023" w="5716016">
                  <a:moveTo>
                    <a:pt x="0" y="0"/>
                  </a:moveTo>
                  <a:lnTo>
                    <a:pt x="5716016" y="0"/>
                  </a:lnTo>
                  <a:lnTo>
                    <a:pt x="5716016" y="2216023"/>
                  </a:lnTo>
                  <a:lnTo>
                    <a:pt x="0" y="22160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80441" y="3613023"/>
            <a:ext cx="5502535" cy="1752076"/>
            <a:chOff x="0" y="0"/>
            <a:chExt cx="7336714" cy="233610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336663" cy="2336165"/>
            </a:xfrm>
            <a:custGeom>
              <a:avLst/>
              <a:gdLst/>
              <a:ahLst/>
              <a:cxnLst/>
              <a:rect r="r" b="b" t="t" l="l"/>
              <a:pathLst>
                <a:path h="2336165" w="7336663">
                  <a:moveTo>
                    <a:pt x="0" y="0"/>
                  </a:moveTo>
                  <a:lnTo>
                    <a:pt x="7336663" y="0"/>
                  </a:lnTo>
                  <a:lnTo>
                    <a:pt x="7336663" y="2336165"/>
                  </a:lnTo>
                  <a:lnTo>
                    <a:pt x="0" y="23361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2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136624" y="2034130"/>
            <a:ext cx="5578269" cy="2783253"/>
            <a:chOff x="0" y="0"/>
            <a:chExt cx="7437692" cy="371100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437755" cy="3710940"/>
            </a:xfrm>
            <a:custGeom>
              <a:avLst/>
              <a:gdLst/>
              <a:ahLst/>
              <a:cxnLst/>
              <a:rect r="r" b="b" t="t" l="l"/>
              <a:pathLst>
                <a:path h="3710940" w="7437755">
                  <a:moveTo>
                    <a:pt x="0" y="0"/>
                  </a:moveTo>
                  <a:lnTo>
                    <a:pt x="7437755" y="0"/>
                  </a:lnTo>
                  <a:lnTo>
                    <a:pt x="7437755" y="3710940"/>
                  </a:lnTo>
                  <a:lnTo>
                    <a:pt x="0" y="37109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1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1138611" y="6380407"/>
            <a:ext cx="172860" cy="201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36">
                <a:solidFill>
                  <a:srgbClr val="7F7F7F"/>
                </a:solidFill>
                <a:latin typeface="IBM Plex Sans"/>
                <a:ea typeface="IBM Plex Sans"/>
                <a:cs typeface="IBM Plex Sans"/>
                <a:sym typeface="IBM Plex Sans"/>
              </a:rPr>
              <a:t>12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323149" y="88278"/>
            <a:ext cx="6128366" cy="410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b="true" sz="23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STANDARDIZED NORMAL DISTRIBUTION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205971" y="928707"/>
            <a:ext cx="1862652" cy="430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0070C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Code Snippet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706849" y="1081107"/>
            <a:ext cx="2537298" cy="430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00B05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Graph-Simulation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756397"/>
            <a:ext cx="12192000" cy="101603"/>
            <a:chOff x="0" y="0"/>
            <a:chExt cx="16256000" cy="1354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56000" cy="135509"/>
            </a:xfrm>
            <a:custGeom>
              <a:avLst/>
              <a:gdLst/>
              <a:ahLst/>
              <a:cxnLst/>
              <a:rect r="r" b="b" t="t" l="l"/>
              <a:pathLst>
                <a:path h="135509" w="16256000">
                  <a:moveTo>
                    <a:pt x="0" y="0"/>
                  </a:moveTo>
                  <a:lnTo>
                    <a:pt x="16256000" y="0"/>
                  </a:lnTo>
                  <a:lnTo>
                    <a:pt x="16256000" y="135509"/>
                  </a:lnTo>
                  <a:lnTo>
                    <a:pt x="0" y="135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58816" y="6038945"/>
            <a:ext cx="1365809" cy="598989"/>
            <a:chOff x="0" y="0"/>
            <a:chExt cx="1821078" cy="7986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1053" cy="798703"/>
            </a:xfrm>
            <a:custGeom>
              <a:avLst/>
              <a:gdLst/>
              <a:ahLst/>
              <a:cxnLst/>
              <a:rect r="r" b="b" t="t" l="l"/>
              <a:pathLst>
                <a:path h="798703" w="1821053">
                  <a:moveTo>
                    <a:pt x="0" y="0"/>
                  </a:moveTo>
                  <a:lnTo>
                    <a:pt x="1821053" y="0"/>
                  </a:lnTo>
                  <a:lnTo>
                    <a:pt x="1821053" y="798703"/>
                  </a:lnTo>
                  <a:lnTo>
                    <a:pt x="0" y="798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63" t="-164482" r="-72136" b="-164841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5879516" y="2022670"/>
            <a:ext cx="1839804" cy="385250"/>
          </a:xfrm>
          <a:custGeom>
            <a:avLst/>
            <a:gdLst/>
            <a:ahLst/>
            <a:cxnLst/>
            <a:rect r="r" b="b" t="t" l="l"/>
            <a:pathLst>
              <a:path h="385250" w="1839804">
                <a:moveTo>
                  <a:pt x="0" y="0"/>
                </a:moveTo>
                <a:lnTo>
                  <a:pt x="1839804" y="0"/>
                </a:lnTo>
                <a:lnTo>
                  <a:pt x="1839804" y="385250"/>
                </a:lnTo>
                <a:lnTo>
                  <a:pt x="0" y="385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9491" r="0" b="-19859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879516" y="2456379"/>
            <a:ext cx="1670451" cy="370331"/>
          </a:xfrm>
          <a:custGeom>
            <a:avLst/>
            <a:gdLst/>
            <a:ahLst/>
            <a:cxnLst/>
            <a:rect r="r" b="b" t="t" l="l"/>
            <a:pathLst>
              <a:path h="370331" w="1670451">
                <a:moveTo>
                  <a:pt x="0" y="0"/>
                </a:moveTo>
                <a:lnTo>
                  <a:pt x="1670450" y="0"/>
                </a:lnTo>
                <a:lnTo>
                  <a:pt x="1670450" y="370331"/>
                </a:lnTo>
                <a:lnTo>
                  <a:pt x="0" y="3703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827" t="-17402" r="0" b="-25446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953277" y="2874335"/>
            <a:ext cx="1589022" cy="379766"/>
          </a:xfrm>
          <a:custGeom>
            <a:avLst/>
            <a:gdLst/>
            <a:ahLst/>
            <a:cxnLst/>
            <a:rect r="r" b="b" t="t" l="l"/>
            <a:pathLst>
              <a:path h="379766" w="1589022">
                <a:moveTo>
                  <a:pt x="0" y="0"/>
                </a:moveTo>
                <a:lnTo>
                  <a:pt x="1589022" y="0"/>
                </a:lnTo>
                <a:lnTo>
                  <a:pt x="1589022" y="379767"/>
                </a:lnTo>
                <a:lnTo>
                  <a:pt x="0" y="3797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7792" t="-46723" r="0" b="-39479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907948" y="3188701"/>
            <a:ext cx="1898704" cy="350484"/>
          </a:xfrm>
          <a:custGeom>
            <a:avLst/>
            <a:gdLst/>
            <a:ahLst/>
            <a:cxnLst/>
            <a:rect r="r" b="b" t="t" l="l"/>
            <a:pathLst>
              <a:path h="350484" w="1898704">
                <a:moveTo>
                  <a:pt x="0" y="0"/>
                </a:moveTo>
                <a:lnTo>
                  <a:pt x="1898704" y="0"/>
                </a:lnTo>
                <a:lnTo>
                  <a:pt x="1898704" y="350484"/>
                </a:lnTo>
                <a:lnTo>
                  <a:pt x="0" y="35048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8061" t="0" r="-3811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911704" y="810245"/>
            <a:ext cx="372131" cy="399221"/>
          </a:xfrm>
          <a:custGeom>
            <a:avLst/>
            <a:gdLst/>
            <a:ahLst/>
            <a:cxnLst/>
            <a:rect r="r" b="b" t="t" l="l"/>
            <a:pathLst>
              <a:path h="399221" w="372131">
                <a:moveTo>
                  <a:pt x="0" y="0"/>
                </a:moveTo>
                <a:lnTo>
                  <a:pt x="372130" y="0"/>
                </a:lnTo>
                <a:lnTo>
                  <a:pt x="372130" y="399220"/>
                </a:lnTo>
                <a:lnTo>
                  <a:pt x="0" y="39922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058678" y="180556"/>
            <a:ext cx="5698541" cy="728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80"/>
              </a:lnSpc>
            </a:pP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Deterministic Baseline Logic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372831" y="807206"/>
            <a:ext cx="58293" cy="373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0"/>
              </a:lnSpc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108194" y="1007231"/>
            <a:ext cx="58293" cy="173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"/>
              </a:lnSpc>
            </a:pPr>
            <a:r>
              <a:rPr lang="en-US" sz="1800" spc="143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04326" y="871204"/>
            <a:ext cx="155448" cy="1248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72"/>
              </a:lnSpc>
            </a:pPr>
            <a:r>
              <a:rPr lang="en-US" sz="1800" spc="5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• •</a:t>
            </a:r>
          </a:p>
          <a:p>
            <a:pPr algn="just">
              <a:lnSpc>
                <a:spcPts val="3359"/>
              </a:lnSpc>
            </a:pPr>
            <a:r>
              <a:rPr lang="en-US" sz="2400" spc="72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•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42526" y="4369965"/>
            <a:ext cx="4172331" cy="744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VaR is a static probabilistic benchmark. It provides: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56826" y="5133689"/>
            <a:ext cx="3736353" cy="904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➢Analytical clarity </a:t>
            </a:r>
          </a:p>
          <a:p>
            <a:pPr algn="l">
              <a:lnSpc>
                <a:spcPts val="2995"/>
              </a:lnSpc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➢Computational efficiency </a:t>
            </a:r>
          </a:p>
          <a:p>
            <a:pPr algn="l">
              <a:lnSpc>
                <a:spcPts val="1800"/>
              </a:lnSpc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➢A fixed risk threshold for evaluation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999726" y="2059267"/>
            <a:ext cx="3879790" cy="1148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9"/>
              </a:lnSpc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Factor Model: Portfolio Variance : </a:t>
            </a:r>
          </a:p>
          <a:p>
            <a:pPr algn="l">
              <a:lnSpc>
                <a:spcPts val="4017"/>
              </a:lnSpc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Loss distribution(Gaussian Assumption):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285726" y="2426779"/>
            <a:ext cx="64818" cy="339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9"/>
              </a:lnSpc>
            </a:pPr>
            <a:r>
              <a:rPr lang="en-US" sz="1800" spc="5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 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200126" y="2426779"/>
            <a:ext cx="64818" cy="339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9"/>
              </a:lnSpc>
            </a:pPr>
            <a:r>
              <a:rPr lang="en-US" sz="1800" spc="5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 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999726" y="3316929"/>
            <a:ext cx="1874187" cy="228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01"/>
              </a:lnSpc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Closed-Form VaR:  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285717" y="3342208"/>
            <a:ext cx="64818" cy="196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01"/>
              </a:lnSpc>
            </a:pPr>
            <a:r>
              <a:rPr lang="en-US" sz="1800" spc="5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 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200164" y="3342208"/>
            <a:ext cx="64818" cy="196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01"/>
              </a:lnSpc>
            </a:pPr>
            <a:r>
              <a:rPr lang="en-US" sz="1800" spc="5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 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85326" y="740531"/>
            <a:ext cx="3600926" cy="440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2"/>
              </a:lnSpc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Factor loadings β, Factorcovariance Σf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862474" y="740531"/>
            <a:ext cx="2181606" cy="440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2"/>
              </a:lnSpc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,Idiosyncraticvariance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331459" y="740531"/>
            <a:ext cx="2715196" cy="440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2"/>
              </a:lnSpc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VaRthreshold are fixed.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85326" y="1222277"/>
            <a:ext cx="6721326" cy="888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2"/>
              </a:lnSpc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re-estimation, no adaptive updating, and no stochastic optimization. </a:t>
            </a:r>
          </a:p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0070C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Analytical Structure: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04326" y="3918375"/>
            <a:ext cx="155448" cy="411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spc="72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•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85326" y="3907517"/>
            <a:ext cx="1971637" cy="415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00B05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Interpretation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656826" y="2036464"/>
            <a:ext cx="215456" cy="1475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25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➢ ➢ ➢</a:t>
            </a:r>
          </a:p>
          <a:p>
            <a:pPr algn="just">
              <a:lnSpc>
                <a:spcPts val="2406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➢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138630" y="6380426"/>
            <a:ext cx="172860" cy="201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36">
                <a:solidFill>
                  <a:srgbClr val="7F7F7F"/>
                </a:solidFill>
                <a:latin typeface="IBM Plex Sans"/>
                <a:ea typeface="IBM Plex Sans"/>
                <a:cs typeface="IBM Plex Sans"/>
                <a:sym typeface="IBM Plex San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756397"/>
            <a:ext cx="12192000" cy="101603"/>
            <a:chOff x="0" y="0"/>
            <a:chExt cx="16256000" cy="1354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56000" cy="135509"/>
            </a:xfrm>
            <a:custGeom>
              <a:avLst/>
              <a:gdLst/>
              <a:ahLst/>
              <a:cxnLst/>
              <a:rect r="r" b="b" t="t" l="l"/>
              <a:pathLst>
                <a:path h="135509" w="16256000">
                  <a:moveTo>
                    <a:pt x="0" y="0"/>
                  </a:moveTo>
                  <a:lnTo>
                    <a:pt x="16256000" y="0"/>
                  </a:lnTo>
                  <a:lnTo>
                    <a:pt x="16256000" y="135509"/>
                  </a:lnTo>
                  <a:lnTo>
                    <a:pt x="0" y="135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58816" y="6038945"/>
            <a:ext cx="1365809" cy="598989"/>
            <a:chOff x="0" y="0"/>
            <a:chExt cx="1821078" cy="7986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1053" cy="798703"/>
            </a:xfrm>
            <a:custGeom>
              <a:avLst/>
              <a:gdLst/>
              <a:ahLst/>
              <a:cxnLst/>
              <a:rect r="r" b="b" t="t" l="l"/>
              <a:pathLst>
                <a:path h="798703" w="1821053">
                  <a:moveTo>
                    <a:pt x="0" y="0"/>
                  </a:moveTo>
                  <a:lnTo>
                    <a:pt x="1821053" y="0"/>
                  </a:lnTo>
                  <a:lnTo>
                    <a:pt x="1821053" y="798703"/>
                  </a:lnTo>
                  <a:lnTo>
                    <a:pt x="0" y="798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63" t="-164482" r="-72136" b="-16484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4941" y="655634"/>
            <a:ext cx="11799789" cy="5482961"/>
            <a:chOff x="0" y="0"/>
            <a:chExt cx="11799786" cy="548297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5895084" y="63500"/>
              <a:ext cx="9525" cy="5355976"/>
            </a:xfrm>
            <a:custGeom>
              <a:avLst/>
              <a:gdLst/>
              <a:ahLst/>
              <a:cxnLst/>
              <a:rect r="r" b="b" t="t" l="l"/>
              <a:pathLst>
                <a:path h="5355976" w="9525">
                  <a:moveTo>
                    <a:pt x="0" y="0"/>
                  </a:moveTo>
                  <a:lnTo>
                    <a:pt x="0" y="5355976"/>
                  </a:lnTo>
                  <a:lnTo>
                    <a:pt x="9525" y="5355976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B6B6B6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3500" y="63500"/>
              <a:ext cx="9525" cy="5355976"/>
            </a:xfrm>
            <a:custGeom>
              <a:avLst/>
              <a:gdLst/>
              <a:ahLst/>
              <a:cxnLst/>
              <a:rect r="r" b="b" t="t" l="l"/>
              <a:pathLst>
                <a:path h="5355976" w="9525">
                  <a:moveTo>
                    <a:pt x="0" y="0"/>
                  </a:moveTo>
                  <a:lnTo>
                    <a:pt x="0" y="5355976"/>
                  </a:lnTo>
                  <a:lnTo>
                    <a:pt x="9525" y="5355976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B6B6B6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1726794" y="63500"/>
              <a:ext cx="9525" cy="5355976"/>
            </a:xfrm>
            <a:custGeom>
              <a:avLst/>
              <a:gdLst/>
              <a:ahLst/>
              <a:cxnLst/>
              <a:rect r="r" b="b" t="t" l="l"/>
              <a:pathLst>
                <a:path h="5355976" w="9525">
                  <a:moveTo>
                    <a:pt x="0" y="0"/>
                  </a:moveTo>
                  <a:lnTo>
                    <a:pt x="0" y="5355976"/>
                  </a:lnTo>
                  <a:lnTo>
                    <a:pt x="9525" y="5355976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B6B6B6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3500" y="63500"/>
              <a:ext cx="11672819" cy="9525"/>
            </a:xfrm>
            <a:custGeom>
              <a:avLst/>
              <a:gdLst/>
              <a:ahLst/>
              <a:cxnLst/>
              <a:rect r="r" b="b" t="t" l="l"/>
              <a:pathLst>
                <a:path h="9525" w="11672819">
                  <a:moveTo>
                    <a:pt x="0" y="0"/>
                  </a:moveTo>
                  <a:lnTo>
                    <a:pt x="0" y="9525"/>
                  </a:lnTo>
                  <a:lnTo>
                    <a:pt x="11672819" y="9525"/>
                  </a:lnTo>
                  <a:lnTo>
                    <a:pt x="11672819" y="0"/>
                  </a:lnTo>
                  <a:close/>
                </a:path>
              </a:pathLst>
            </a:custGeom>
            <a:solidFill>
              <a:srgbClr val="B6B6B6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63500" y="5409951"/>
              <a:ext cx="11672819" cy="9525"/>
            </a:xfrm>
            <a:custGeom>
              <a:avLst/>
              <a:gdLst/>
              <a:ahLst/>
              <a:cxnLst/>
              <a:rect r="r" b="b" t="t" l="l"/>
              <a:pathLst>
                <a:path h="9525" w="11672819">
                  <a:moveTo>
                    <a:pt x="0" y="0"/>
                  </a:moveTo>
                  <a:lnTo>
                    <a:pt x="0" y="9525"/>
                  </a:lnTo>
                  <a:lnTo>
                    <a:pt x="11672819" y="9525"/>
                  </a:lnTo>
                  <a:lnTo>
                    <a:pt x="11672819" y="0"/>
                  </a:lnTo>
                  <a:close/>
                </a:path>
              </a:pathLst>
            </a:custGeom>
            <a:solidFill>
              <a:srgbClr val="B6B6B6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311991" y="1658884"/>
            <a:ext cx="5603615" cy="4011806"/>
            <a:chOff x="0" y="0"/>
            <a:chExt cx="7471486" cy="534907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471537" cy="5349113"/>
            </a:xfrm>
            <a:custGeom>
              <a:avLst/>
              <a:gdLst/>
              <a:ahLst/>
              <a:cxnLst/>
              <a:rect r="r" b="b" t="t" l="l"/>
              <a:pathLst>
                <a:path h="5349113" w="7471537">
                  <a:moveTo>
                    <a:pt x="0" y="0"/>
                  </a:moveTo>
                  <a:lnTo>
                    <a:pt x="7471537" y="0"/>
                  </a:lnTo>
                  <a:lnTo>
                    <a:pt x="7471537" y="5349113"/>
                  </a:lnTo>
                  <a:lnTo>
                    <a:pt x="0" y="5349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085723" y="2043084"/>
            <a:ext cx="5755986" cy="2771508"/>
            <a:chOff x="0" y="0"/>
            <a:chExt cx="7674648" cy="369534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674610" cy="3695319"/>
            </a:xfrm>
            <a:custGeom>
              <a:avLst/>
              <a:gdLst/>
              <a:ahLst/>
              <a:cxnLst/>
              <a:rect r="r" b="b" t="t" l="l"/>
              <a:pathLst>
                <a:path h="3695319" w="7674610">
                  <a:moveTo>
                    <a:pt x="0" y="0"/>
                  </a:moveTo>
                  <a:lnTo>
                    <a:pt x="7674610" y="0"/>
                  </a:lnTo>
                  <a:lnTo>
                    <a:pt x="7674610" y="3695319"/>
                  </a:lnTo>
                  <a:lnTo>
                    <a:pt x="0" y="36953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1138611" y="6380407"/>
            <a:ext cx="172860" cy="201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36">
                <a:solidFill>
                  <a:srgbClr val="7F7F7F"/>
                </a:solidFill>
                <a:latin typeface="IBM Plex Sans"/>
                <a:ea typeface="IBM Plex Sans"/>
                <a:cs typeface="IBM Plex Sans"/>
                <a:sym typeface="IBM Plex Sans"/>
              </a:rPr>
              <a:t>14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833012" y="327793"/>
            <a:ext cx="3746735" cy="415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BACKTESTING RESULTS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205971" y="928707"/>
            <a:ext cx="1862652" cy="430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0070C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Code Snippet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706849" y="1081107"/>
            <a:ext cx="2537298" cy="430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00B05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Graph-Simulation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756397"/>
            <a:ext cx="12192000" cy="101603"/>
            <a:chOff x="0" y="0"/>
            <a:chExt cx="16256000" cy="1354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56000" cy="135509"/>
            </a:xfrm>
            <a:custGeom>
              <a:avLst/>
              <a:gdLst/>
              <a:ahLst/>
              <a:cxnLst/>
              <a:rect r="r" b="b" t="t" l="l"/>
              <a:pathLst>
                <a:path h="135509" w="16256000">
                  <a:moveTo>
                    <a:pt x="0" y="0"/>
                  </a:moveTo>
                  <a:lnTo>
                    <a:pt x="16256000" y="0"/>
                  </a:lnTo>
                  <a:lnTo>
                    <a:pt x="16256000" y="135509"/>
                  </a:lnTo>
                  <a:lnTo>
                    <a:pt x="0" y="135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58816" y="6038945"/>
            <a:ext cx="1365809" cy="598989"/>
            <a:chOff x="0" y="0"/>
            <a:chExt cx="1821078" cy="7986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1053" cy="798703"/>
            </a:xfrm>
            <a:custGeom>
              <a:avLst/>
              <a:gdLst/>
              <a:ahLst/>
              <a:cxnLst/>
              <a:rect r="r" b="b" t="t" l="l"/>
              <a:pathLst>
                <a:path h="798703" w="1821053">
                  <a:moveTo>
                    <a:pt x="0" y="0"/>
                  </a:moveTo>
                  <a:lnTo>
                    <a:pt x="1821053" y="0"/>
                  </a:lnTo>
                  <a:lnTo>
                    <a:pt x="1821053" y="798703"/>
                  </a:lnTo>
                  <a:lnTo>
                    <a:pt x="0" y="798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63" t="-164482" r="-72136" b="-164841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17600" y="606009"/>
            <a:ext cx="9454286" cy="633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Performance Analysis of Deterministic Baseline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04326" y="1774327"/>
            <a:ext cx="181356" cy="482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spc="8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•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04326" y="4135622"/>
            <a:ext cx="181356" cy="482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spc="83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•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85326" y="1803473"/>
            <a:ext cx="1484652" cy="447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6"/>
              </a:lnSpc>
            </a:pPr>
            <a:r>
              <a:rPr lang="en-US" b="true" sz="2799">
                <a:solidFill>
                  <a:srgbClr val="00B05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Strengths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04345" y="2235841"/>
            <a:ext cx="77724" cy="377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4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85326" y="4117143"/>
            <a:ext cx="1884216" cy="494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b="true" sz="2799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Limitations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86929" y="2207562"/>
            <a:ext cx="287264" cy="1489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➢ ➢ ➢ ➢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86929" y="4568857"/>
            <a:ext cx="287264" cy="742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➢ ➢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42526" y="2235841"/>
            <a:ext cx="3535480" cy="377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Stableacross the test period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42526" y="2609250"/>
            <a:ext cx="4476969" cy="1124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Slightly conservative risk estimates Computationally efficient Fully interpretable framework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42526" y="4597136"/>
            <a:ext cx="5058842" cy="751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AssumeGaussian tail risk Static parameters (no dynamic updating)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138630" y="6380426"/>
            <a:ext cx="172860" cy="201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36">
                <a:solidFill>
                  <a:srgbClr val="7F7F7F"/>
                </a:solidFill>
                <a:latin typeface="IBM Plex Sans"/>
                <a:ea typeface="IBM Plex Sans"/>
                <a:cs typeface="IBM Plex Sans"/>
                <a:sym typeface="IBM Plex San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756397"/>
            <a:ext cx="12192000" cy="101603"/>
            <a:chOff x="0" y="0"/>
            <a:chExt cx="16256000" cy="1354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56000" cy="135509"/>
            </a:xfrm>
            <a:custGeom>
              <a:avLst/>
              <a:gdLst/>
              <a:ahLst/>
              <a:cxnLst/>
              <a:rect r="r" b="b" t="t" l="l"/>
              <a:pathLst>
                <a:path h="135509" w="16256000">
                  <a:moveTo>
                    <a:pt x="0" y="0"/>
                  </a:moveTo>
                  <a:lnTo>
                    <a:pt x="16256000" y="0"/>
                  </a:lnTo>
                  <a:lnTo>
                    <a:pt x="16256000" y="135509"/>
                  </a:lnTo>
                  <a:lnTo>
                    <a:pt x="0" y="135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58816" y="6038945"/>
            <a:ext cx="1365809" cy="598989"/>
            <a:chOff x="0" y="0"/>
            <a:chExt cx="1821078" cy="7986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1053" cy="798703"/>
            </a:xfrm>
            <a:custGeom>
              <a:avLst/>
              <a:gdLst/>
              <a:ahLst/>
              <a:cxnLst/>
              <a:rect r="r" b="b" t="t" l="l"/>
              <a:pathLst>
                <a:path h="798703" w="1821053">
                  <a:moveTo>
                    <a:pt x="0" y="0"/>
                  </a:moveTo>
                  <a:lnTo>
                    <a:pt x="1821053" y="0"/>
                  </a:lnTo>
                  <a:lnTo>
                    <a:pt x="1821053" y="798703"/>
                  </a:lnTo>
                  <a:lnTo>
                    <a:pt x="0" y="798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63" t="-164482" r="-72136" b="-164841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3396215" y="606009"/>
            <a:ext cx="5009979" cy="633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Summary and Transition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04326" y="1766630"/>
            <a:ext cx="4192686" cy="436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r>
              <a:rPr lang="en-US" b="true" sz="2499">
                <a:solidFill>
                  <a:srgbClr val="00B05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What Milestone 3 achieved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04326" y="3685727"/>
            <a:ext cx="5199964" cy="436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r>
              <a:rPr lang="en-US" b="true" sz="2499">
                <a:solidFill>
                  <a:srgbClr val="7030A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Why randomized Strategies Next?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86929" y="2138182"/>
            <a:ext cx="263328" cy="1224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98"/>
              </a:lnSpc>
            </a:pPr>
            <a:r>
              <a:rPr lang="en-US" sz="2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➢ ➢ ➢ ➢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86929" y="4057269"/>
            <a:ext cx="263328" cy="1224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98"/>
              </a:lnSpc>
            </a:pPr>
            <a:r>
              <a:rPr lang="en-US" sz="2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➢ ➢ ➢ ➢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42526" y="2172043"/>
            <a:ext cx="3193018" cy="1232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98"/>
              </a:lnSpc>
            </a:pPr>
            <a:r>
              <a:rPr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Fullend–to–endsimulation Deterministic VaR baseline Analytical implementation Out- of- Sample validation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42526" y="4091130"/>
            <a:ext cx="3268751" cy="1232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8"/>
              </a:lnSpc>
            </a:pPr>
            <a:r>
              <a:rPr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Improved tail riskmodelling Stress scenario simulation Adaptive risk thresholds Monte Carlo flexibility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138630" y="6380426"/>
            <a:ext cx="172860" cy="201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36">
                <a:solidFill>
                  <a:srgbClr val="7F7F7F"/>
                </a:solidFill>
                <a:latin typeface="IBM Plex Sans"/>
                <a:ea typeface="IBM Plex Sans"/>
                <a:cs typeface="IBM Plex Sans"/>
                <a:sym typeface="IBM Plex Sans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DAHEpJ0tIHw</dc:identifier>
  <dcterms:modified xsi:type="dcterms:W3CDTF">2011-08-01T06:04:30Z</dcterms:modified>
  <cp:revision>1</cp:revision>
  <dc:title>Milestone 3</dc:title>
</cp:coreProperties>
</file>