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302" r:id="rId2"/>
    <p:sldId id="304" r:id="rId3"/>
    <p:sldId id="305" r:id="rId4"/>
    <p:sldId id="306" r:id="rId5"/>
    <p:sldId id="276" r:id="rId6"/>
    <p:sldId id="277" r:id="rId7"/>
    <p:sldId id="267" r:id="rId8"/>
    <p:sldId id="278" r:id="rId9"/>
    <p:sldId id="279" r:id="rId10"/>
    <p:sldId id="280" r:id="rId11"/>
    <p:sldId id="281" r:id="rId12"/>
    <p:sldId id="307" r:id="rId13"/>
    <p:sldId id="308" r:id="rId14"/>
    <p:sldId id="282" r:id="rId15"/>
    <p:sldId id="283" r:id="rId16"/>
    <p:sldId id="284" r:id="rId17"/>
    <p:sldId id="301" r:id="rId18"/>
    <p:sldId id="285" r:id="rId19"/>
    <p:sldId id="286" r:id="rId20"/>
    <p:sldId id="26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5" r:id="rId29"/>
    <p:sldId id="296" r:id="rId30"/>
    <p:sldId id="297" r:id="rId31"/>
    <p:sldId id="298" r:id="rId32"/>
    <p:sldId id="299" r:id="rId33"/>
    <p:sldId id="300" r:id="rId34"/>
  </p:sldIdLst>
  <p:sldSz cx="12192000" cy="6858000"/>
  <p:notesSz cx="6858000" cy="9144000"/>
  <p:embeddedFontLst>
    <p:embeddedFont>
      <p:font typeface="Helvetica Neue" panose="020B0604020202020204" charset="0"/>
      <p:regular r:id="rId36"/>
      <p:bold r:id="rId37"/>
      <p:italic r:id="rId38"/>
      <p:boldItalic r:id="rId39"/>
    </p:embeddedFont>
    <p:embeddedFont>
      <p:font typeface="Helvetica Neue Light" panose="020B0604020202020204" charset="0"/>
      <p:regular r:id="rId40"/>
      <p:bold r:id="rId41"/>
      <p:italic r:id="rId42"/>
      <p:boldItalic r:id="rId43"/>
    </p:embeddedFont>
    <p:embeddedFont>
      <p:font typeface="Times" panose="02020603050405020304" pitchFamily="18" charset="0"/>
      <p:regular r:id="rId44"/>
      <p:bold r:id="rId45"/>
      <p:italic r:id="rId46"/>
      <p:boldItalic r:id="rId47"/>
    </p:embeddedFont>
    <p:embeddedFont>
      <p:font typeface="Cambria Math" panose="02040503050406030204" pitchFamily="18" charset="0"/>
      <p:regular r:id="rId48"/>
    </p:embeddedFont>
    <p:embeddedFont>
      <p:font typeface="Calibri" panose="020F0502020204030204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9AB47DDA-6562-4701-9DB4-6CA5C2B33250}">
          <p14:sldIdLst>
            <p14:sldId id="302"/>
            <p14:sldId id="304"/>
            <p14:sldId id="305"/>
            <p14:sldId id="306"/>
            <p14:sldId id="276"/>
            <p14:sldId id="277"/>
            <p14:sldId id="267"/>
            <p14:sldId id="278"/>
            <p14:sldId id="279"/>
            <p14:sldId id="280"/>
            <p14:sldId id="281"/>
            <p14:sldId id="307"/>
            <p14:sldId id="308"/>
            <p14:sldId id="282"/>
            <p14:sldId id="283"/>
            <p14:sldId id="284"/>
            <p14:sldId id="301"/>
            <p14:sldId id="285"/>
            <p14:sldId id="286"/>
            <p14:sldId id="266"/>
            <p14:sldId id="287"/>
            <p14:sldId id="288"/>
            <p14:sldId id="289"/>
            <p14:sldId id="290"/>
            <p14:sldId id="291"/>
            <p14:sldId id="292"/>
            <p14:sldId id="293"/>
            <p14:sldId id="295"/>
            <p14:sldId id="296"/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j3nWBeewwp6FjhOJ8jYRb+UnHM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381E67-D018-4355-BFE7-A47452256B26}">
  <a:tblStyle styleId="{90381E67-D018-4355-BFE7-A47452256B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52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2c7b2baf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0" name="Google Shape;190;g3c2c7b2bafd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g3c2c7b2bafd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456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1769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2c7b2baf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3" name="Google Shape;183;g3c2c7b2bafd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g3c2c7b2bafd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" name="Google Shape;27;p7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44" name="Google Shape;44;p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" name="Google Shape;45;p8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9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8" name="Google Shape;58;p11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4" name="Google Shape;64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2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14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83" name="Google Shape;83;p1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0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0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17" name="Google Shape;17;p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6.png"/><Relationship Id="rId7" Type="http://schemas.openxmlformats.org/officeDocument/2006/relationships/image" Target="../media/image21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uhammadahmad246/enhanced-stock-market-dataset" TargetMode="External"/><Relationship Id="rId2" Type="http://schemas.openxmlformats.org/officeDocument/2006/relationships/hyperlink" Target="https://github.com/Chengyueminga/MarketRisk_VaR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nvestopedia.com/terms/m/montecarlosimulation.asp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822469" y="111967"/>
            <a:ext cx="10616862" cy="644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sv-SE" sz="28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Basel III Market Risk Modelling Using Monte Carlo VaR</a:t>
            </a:r>
          </a:p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endParaRPr lang="sv-SE" sz="2800" b="1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5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A Probabilistic Approach to Value-at-Risk Estimation</a:t>
            </a:r>
          </a:p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2500" b="1" dirty="0">
              <a:solidFill>
                <a:srgbClr val="00B05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800" b="1" dirty="0">
                <a:solidFill>
                  <a:srgbClr val="00542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S1_G4_FIN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2800" b="1" dirty="0">
              <a:solidFill>
                <a:srgbClr val="005426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CSE 400: Fundamentals of Probability in Computing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2400" b="1" dirty="0">
              <a:solidFill>
                <a:srgbClr val="0033CC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Instructor							           Prepared by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Prof. (Dr.)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Dhaval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Patel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	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Priyam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Modi	</a:t>
            </a:r>
            <a:endParaRPr lang="en-US" sz="2000" b="1" dirty="0">
              <a:solidFill>
                <a:srgbClr val="0033CC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FF66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								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Dhruv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Jodhani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Guided by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Prapti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Patel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						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Masoom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Choksi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									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Jinay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Shah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				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Gitika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Agarwal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	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2400" b="1" dirty="0">
              <a:solidFill>
                <a:srgbClr val="FF66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28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7547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1D840132-D2C3-945C-72BC-A893B28CF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A5465A-8E92-566E-8FC5-E93670B89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256381"/>
            <a:ext cx="10517187" cy="593933"/>
          </a:xfrm>
        </p:spPr>
        <p:txBody>
          <a:bodyPr anchor="t">
            <a:normAutofit fontScale="92500" lnSpcReduction="10000"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Behind the Project</a:t>
            </a:r>
            <a:endParaRPr lang="en-IN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E6651F6-984B-A2CE-236F-92F572EF6AB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36612" y="2828420"/>
            <a:ext cx="10517187" cy="593933"/>
          </a:xfrm>
        </p:spPr>
        <p:txBody>
          <a:bodyPr anchor="t">
            <a:noAutofit/>
          </a:bodyPr>
          <a:lstStyle/>
          <a:p>
            <a:pPr algn="ctr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Perspective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03F524-F673-DDCA-FA0C-6E3787084F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fld id="{00000000-1234-1234-1234-123412341234}" type="slidenum">
              <a:rPr lang="en-US" b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C204EB3-67A4-CE37-9C2A-55F0022F0EA9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760413" y="1067862"/>
            <a:ext cx="1059338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bridge the gap between theoretical concepts and real-world applications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markets are uncertain and unpredictable, making risk estimation difficult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eterministic models fail to capture extreme market events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eed for more realistic and robust risk estimation methods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randomness and probabilistic modeling improve decision-making 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963E78A-183F-C9CF-0D3F-31F59B16CE87}"/>
              </a:ext>
            </a:extLst>
          </p:cNvPr>
          <p:cNvSpPr>
            <a:spLocks noGrp="1" noChangeArrowheads="1"/>
          </p:cNvSpPr>
          <p:nvPr>
            <p:ph type="body" idx="4"/>
          </p:nvPr>
        </p:nvSpPr>
        <p:spPr bwMode="auto">
          <a:xfrm>
            <a:off x="836612" y="3791685"/>
            <a:ext cx="1091169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play with the random variables and handle their behavior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Probability Distributions (PDF &amp; CDF) to model financial returns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Applying Gaussian (Normal) Distribution for continuous random variables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Building closed-form probabilistic models for risk estimation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how to handle tail behavior and extreme events in distributions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Applying deterministic and randomized algorithms to solve the same problem </a:t>
            </a:r>
          </a:p>
        </p:txBody>
      </p:sp>
    </p:spTree>
    <p:extLst>
      <p:ext uri="{BB962C8B-B14F-4D97-AF65-F5344CB8AC3E}">
        <p14:creationId xmlns:p14="http://schemas.microsoft.com/office/powerpoint/2010/main" val="3557285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0853-ADC4-1E22-46CF-63AF7A588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1EE2ECD0-2E85-777D-91F3-5F6436571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6AA71B-263B-BB8E-6C57-A17F9D159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206" y="313406"/>
            <a:ext cx="10914926" cy="602831"/>
          </a:xfrm>
        </p:spPr>
        <p:txBody>
          <a:bodyPr anchor="t">
            <a:normAutofit fontScale="92500" lnSpcReduction="10000"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Perspective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85CEB9-4F98-D5D8-652C-53A083BC002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729206" y="3369329"/>
            <a:ext cx="10914926" cy="823912"/>
          </a:xfrm>
        </p:spPr>
        <p:txBody>
          <a:bodyPr anchor="t">
            <a:no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Problem is Important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49B924-3656-73E1-9963-19D1185E9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t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fld id="{00000000-1234-1234-1234-123412341234}" type="slidenum">
              <a:rPr lang="en-US" b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09B771C-CF4D-4D79-04D2-341FB7881AA5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529307" y="1169576"/>
            <a:ext cx="11133383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markets are highly uncertain and volatile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must estimate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decision making and regulatory compliance Basel III 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Incorrect risk estimation can lead to huge financial losses or crises 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markets exhibit extreme events that simple models fail to capture 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like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are widely used in industry for risk management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0DD09BD-7C59-0D3B-B293-63BB7F0005DF}"/>
              </a:ext>
            </a:extLst>
          </p:cNvPr>
          <p:cNvSpPr>
            <a:spLocks noGrp="1" noChangeArrowheads="1"/>
          </p:cNvSpPr>
          <p:nvPr>
            <p:ph type="body" idx="4"/>
          </p:nvPr>
        </p:nvSpPr>
        <p:spPr bwMode="auto">
          <a:xfrm>
            <a:off x="529307" y="4217372"/>
            <a:ext cx="1113338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estimation is critical for financial stability and investment decisions 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institutions prevent making losses as they can’t afford to lose money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better portfolio management and capital allocation 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 computing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probability solve real-world problems </a:t>
            </a:r>
          </a:p>
        </p:txBody>
      </p:sp>
    </p:spTree>
    <p:extLst>
      <p:ext uri="{BB962C8B-B14F-4D97-AF65-F5344CB8AC3E}">
        <p14:creationId xmlns:p14="http://schemas.microsoft.com/office/powerpoint/2010/main" val="3031564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1A6BC-5F2D-0490-6DFC-5C18596A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0D9AE2CF-07AB-B91B-E88B-F24437738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B93AC4-2A20-0CEC-8473-F9A69279C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764" y="83312"/>
            <a:ext cx="10914926" cy="602831"/>
          </a:xfrm>
        </p:spPr>
        <p:txBody>
          <a:bodyPr anchor="t"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Summary Of Your Base Research Paper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4B09FE-7E34-5437-8767-DE110E9B37E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717368" y="3029963"/>
            <a:ext cx="10914926" cy="823912"/>
          </a:xfrm>
        </p:spPr>
        <p:txBody>
          <a:bodyPr anchor="t">
            <a:no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Main Idea And Contribution Of The Paper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CE3CD9-7095-726A-E429-9C46EF8E4E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t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fld id="{00000000-1234-1234-1234-123412341234}" type="slidenum">
              <a:rPr lang="en-US" b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1BAC31A-AEF8-BE48-17F1-13C9662D6210}"/>
              </a:ext>
            </a:extLst>
          </p:cNvPr>
          <p:cNvSpPr>
            <a:spLocks noGrp="1" noChangeArrowheads="1"/>
          </p:cNvSpPr>
          <p:nvPr>
            <p:ph type="body" idx="4"/>
          </p:nvPr>
        </p:nvSpPr>
        <p:spPr bwMode="auto">
          <a:xfrm>
            <a:off x="717368" y="3764954"/>
            <a:ext cx="10417060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that simulation-based risk estimation is more flexible than relying only on fixed formulas</a:t>
            </a:r>
          </a:p>
          <a:p>
            <a:pPr marL="3429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simple and reproducible framework for practical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using real market data</a:t>
            </a:r>
          </a:p>
          <a:p>
            <a:pPr marL="3429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factor sensitivity and regression diagnostics improve model reliability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Tells how factor-based model produces more accurate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estimates closer to actual values </a:t>
            </a:r>
          </a:p>
          <a:p>
            <a:pPr marL="3429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that rolling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model performance by adapting to changing market conditions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612CF13-01CB-6D4F-63B3-D7A949325F94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529310" y="634435"/>
            <a:ext cx="11291043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Monte Carlo-based framework 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estimation under Basel III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return-based and factor-based simulation models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using technology stock portfolio and historical market data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both models using backtesting and rolling backtesting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that rolling recalibration improves model performance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6F8E861-CB5F-6D2E-9FD5-D2C069E4C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85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Estimate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Value-at-Risk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financial portfolio under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 III regulatory framework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maximum expected loss over a specified time horizon at a given confidence level. For Example:</a:t>
            </a:r>
          </a:p>
          <a:p>
            <a:pPr lvl="2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95% confidence interval: 1-day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=2.43% means there is 95% probability that the portfolio will not lose more than 2.43% in one day</a:t>
            </a:r>
          </a:p>
          <a:p>
            <a:pPr lvl="2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000000"/>
              </a:buClr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</a:t>
            </a:r>
          </a:p>
          <a:p>
            <a:pPr lvl="1" algn="just">
              <a:buClr>
                <a:srgbClr val="000000"/>
              </a:buClr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must report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regulatory capital requirements</a:t>
            </a:r>
          </a:p>
          <a:p>
            <a:pPr lvl="1" algn="just">
              <a:buClr>
                <a:srgbClr val="000000"/>
              </a:buClr>
            </a:pP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internal risk management and model validation</a:t>
            </a:r>
          </a:p>
          <a:p>
            <a:pPr lvl="1" algn="just">
              <a:buClr>
                <a:srgbClr val="000000"/>
              </a:buClr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estimation prevents under-capitalization during market stress</a:t>
            </a:r>
          </a:p>
          <a:p>
            <a:pPr lvl="2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5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3531958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Key Uncertainties</a:t>
            </a:r>
          </a:p>
          <a:p>
            <a:pPr lvl="1"/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6</a:t>
            </a:fld>
            <a:endParaRPr b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757" y="2400156"/>
            <a:ext cx="8316486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1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2c7b2bafd_0_2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7</a:t>
            </a:fld>
            <a:endParaRPr b="0"/>
          </a:p>
        </p:txBody>
      </p:sp>
      <p:sp>
        <p:nvSpPr>
          <p:cNvPr id="3" name="Rectangle 2"/>
          <p:cNvSpPr/>
          <p:nvPr/>
        </p:nvSpPr>
        <p:spPr>
          <a:xfrm>
            <a:off x="4123898" y="313711"/>
            <a:ext cx="35269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Problem Formulation</a:t>
            </a:r>
            <a:endParaRPr lang="en-IN" sz="2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898872"/>
              </p:ext>
            </p:extLst>
          </p:nvPr>
        </p:nvGraphicFramePr>
        <p:xfrm>
          <a:off x="3722914" y="1501603"/>
          <a:ext cx="5309121" cy="26974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769707">
                  <a:extLst>
                    <a:ext uri="{9D8B030D-6E8A-4147-A177-3AD203B41FA5}">
                      <a16:colId xmlns:a16="http://schemas.microsoft.com/office/drawing/2014/main" val="2034356596"/>
                    </a:ext>
                  </a:extLst>
                </a:gridCol>
                <a:gridCol w="1769707">
                  <a:extLst>
                    <a:ext uri="{9D8B030D-6E8A-4147-A177-3AD203B41FA5}">
                      <a16:colId xmlns:a16="http://schemas.microsoft.com/office/drawing/2014/main" val="337248312"/>
                    </a:ext>
                  </a:extLst>
                </a:gridCol>
                <a:gridCol w="1769707">
                  <a:extLst>
                    <a:ext uri="{9D8B030D-6E8A-4147-A177-3AD203B41FA5}">
                      <a16:colId xmlns:a16="http://schemas.microsoft.com/office/drawing/2014/main" val="1668950418"/>
                    </a:ext>
                  </a:extLst>
                </a:gridCol>
              </a:tblGrid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Asset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Ticker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Weight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54042199"/>
                  </a:ext>
                </a:extLst>
              </a:tr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Apple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AAPL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30%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05997022"/>
                  </a:ext>
                </a:extLst>
              </a:tr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Microsoft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MSFT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25%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82687071"/>
                  </a:ext>
                </a:extLst>
              </a:tr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NVIDIA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NVDA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20%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83815449"/>
                  </a:ext>
                </a:extLst>
              </a:tr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Alphabet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GOOG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15%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8689558"/>
                  </a:ext>
                </a:extLst>
              </a:tr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AMD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AMD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10%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8939588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60580" y="959445"/>
            <a:ext cx="28956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Weights Table:</a:t>
            </a:r>
          </a:p>
          <a:p>
            <a:r>
              <a:rPr lang="en-IN" dirty="0">
                <a:solidFill>
                  <a:srgbClr val="F9FAFB"/>
                </a:solidFill>
                <a:latin typeface="quote-cjk-patch"/>
              </a:rPr>
              <a:t/>
            </a:r>
            <a:br>
              <a:rPr lang="en-IN" dirty="0">
                <a:solidFill>
                  <a:srgbClr val="F9FAFB"/>
                </a:solidFill>
                <a:latin typeface="quote-cjk-patch"/>
              </a:rPr>
            </a:b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060580" y="4442661"/>
            <a:ext cx="204651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Factors Used:</a:t>
            </a:r>
          </a:p>
          <a:p>
            <a:r>
              <a:rPr lang="en-IN" dirty="0">
                <a:solidFill>
                  <a:srgbClr val="F9FAFB"/>
                </a:solidFill>
                <a:latin typeface="quote-cjk-patch"/>
              </a:rPr>
              <a:t/>
            </a:r>
            <a:br>
              <a:rPr lang="en-IN" dirty="0">
                <a:solidFill>
                  <a:srgbClr val="F9FAFB"/>
                </a:solidFill>
                <a:latin typeface="quote-cjk-patch"/>
              </a:rPr>
            </a:br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916265"/>
              </p:ext>
            </p:extLst>
          </p:nvPr>
        </p:nvGraphicFramePr>
        <p:xfrm>
          <a:off x="2845838" y="4863755"/>
          <a:ext cx="7053942" cy="1798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351314">
                  <a:extLst>
                    <a:ext uri="{9D8B030D-6E8A-4147-A177-3AD203B41FA5}">
                      <a16:colId xmlns:a16="http://schemas.microsoft.com/office/drawing/2014/main" val="2868650372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3427712721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3180252154"/>
                    </a:ext>
                  </a:extLst>
                </a:gridCol>
              </a:tblGrid>
              <a:tr h="35668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Factor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Description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Proxy Used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593991614"/>
                  </a:ext>
                </a:extLst>
              </a:tr>
              <a:tr h="35668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XLK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Technology Sector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Dow Jones Returns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41569558"/>
                  </a:ext>
                </a:extLst>
              </a:tr>
              <a:tr h="35668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MTUM</a:t>
                      </a:r>
                      <a:endParaRPr lang="en-IN" sz="1700" b="0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Momentum Factor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NASDAQ Returns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09859152"/>
                  </a:ext>
                </a:extLst>
              </a:tr>
              <a:tr h="35668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VLUE</a:t>
                      </a:r>
                      <a:endParaRPr lang="en-IN" sz="1700" b="0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Value Factor</a:t>
                      </a:r>
                      <a:endParaRPr lang="en-IN" sz="1700" b="0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S&amp;P 500 Returns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375725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Model- Random 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8</a:t>
            </a:fld>
            <a:endParaRPr b="0"/>
          </a:p>
        </p:txBody>
      </p:sp>
      <p:sp>
        <p:nvSpPr>
          <p:cNvPr id="5" name="Google Shape;99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blipFill rotWithShape="1">
            <a:blip r:embed="rId2">
              <a:alphaModFix/>
            </a:blip>
            <a:stretch>
              <a:fillRect l="-231" t="-1680" b="-19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dirty="0"/>
              <a:t> 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340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266700"/>
            <a:ext cx="10515600" cy="572299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Model-Distribution Derivation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03" y="838998"/>
            <a:ext cx="10515600" cy="519790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Factor Model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9</a:t>
            </a:fld>
            <a:endParaRPr b="0"/>
          </a:p>
        </p:txBody>
      </p:sp>
      <p:sp>
        <p:nvSpPr>
          <p:cNvPr id="5" name="Google Shape;116;p16"/>
          <p:cNvSpPr txBox="1">
            <a:spLocks/>
          </p:cNvSpPr>
          <p:nvPr/>
        </p:nvSpPr>
        <p:spPr>
          <a:xfrm>
            <a:off x="2920482" y="1263733"/>
            <a:ext cx="7016620" cy="3124503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-41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6200" indent="0">
              <a:buNone/>
            </a:pP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94303" y="3437951"/>
            <a:ext cx="4842992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381000">
              <a:lnSpc>
                <a:spcPct val="90000"/>
              </a:lnSpc>
              <a:spcBef>
                <a:spcPts val="1000"/>
              </a:spcBef>
              <a:buSzPts val="2400"/>
              <a:buFont typeface="Helvetica Neue Light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Distribution of Portfolio Return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Helvetica Neue Light"/>
            </a:endParaRPr>
          </a:p>
        </p:txBody>
      </p:sp>
      <p:sp>
        <p:nvSpPr>
          <p:cNvPr id="8" name="Google Shape;126;p17"/>
          <p:cNvSpPr/>
          <p:nvPr/>
        </p:nvSpPr>
        <p:spPr>
          <a:xfrm>
            <a:off x="5271796" y="3862683"/>
            <a:ext cx="2663468" cy="33165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73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9" name="Google Shape;127;p17"/>
          <p:cNvSpPr/>
          <p:nvPr/>
        </p:nvSpPr>
        <p:spPr>
          <a:xfrm>
            <a:off x="5188014" y="4388237"/>
            <a:ext cx="2818337" cy="42472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133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0" name="Google Shape;128;p17"/>
          <p:cNvSpPr/>
          <p:nvPr/>
        </p:nvSpPr>
        <p:spPr>
          <a:xfrm>
            <a:off x="5514392" y="4914271"/>
            <a:ext cx="2241960" cy="4214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124668" r="-28050" b="-19479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99992" y="5385200"/>
            <a:ext cx="9890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dirty="0"/>
              <a:t>Where</a:t>
            </a:r>
            <a:r>
              <a:rPr lang="en-IN" sz="1100" dirty="0"/>
              <a:t>:</a:t>
            </a:r>
            <a:endParaRPr lang="en-IN" dirty="0"/>
          </a:p>
        </p:txBody>
      </p:sp>
      <p:sp>
        <p:nvSpPr>
          <p:cNvPr id="12" name="Google Shape;129;p17"/>
          <p:cNvSpPr/>
          <p:nvPr/>
        </p:nvSpPr>
        <p:spPr>
          <a:xfrm>
            <a:off x="5589037" y="5613656"/>
            <a:ext cx="1670552" cy="42324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973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3" name="Google Shape;130;p17"/>
          <p:cNvSpPr/>
          <p:nvPr/>
        </p:nvSpPr>
        <p:spPr>
          <a:xfrm>
            <a:off x="5437295" y="6086359"/>
            <a:ext cx="2319057" cy="37527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948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03286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266700"/>
            <a:ext cx="10515600" cy="545063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Model-Distribution Derivation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179" y="989045"/>
            <a:ext cx="10503724" cy="509392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Distribution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Density Function of Loss</a:t>
            </a:r>
          </a:p>
          <a:p>
            <a:pPr marL="7620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10</a:t>
            </a:fld>
            <a:endParaRPr b="0"/>
          </a:p>
        </p:txBody>
      </p:sp>
      <p:sp>
        <p:nvSpPr>
          <p:cNvPr id="5" name="Google Shape;139;p18"/>
          <p:cNvSpPr/>
          <p:nvPr/>
        </p:nvSpPr>
        <p:spPr>
          <a:xfrm>
            <a:off x="5368954" y="1576296"/>
            <a:ext cx="1473961" cy="42752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-263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" name="Google Shape;140;p18"/>
          <p:cNvSpPr/>
          <p:nvPr/>
        </p:nvSpPr>
        <p:spPr>
          <a:xfrm>
            <a:off x="5196298" y="2198382"/>
            <a:ext cx="1998039" cy="4147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r="-1038" b="-1688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" name="Google Shape;138;p18"/>
          <p:cNvSpPr/>
          <p:nvPr/>
        </p:nvSpPr>
        <p:spPr>
          <a:xfrm>
            <a:off x="4310743" y="2494839"/>
            <a:ext cx="1521523" cy="6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Where: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141;p18"/>
          <p:cNvSpPr/>
          <p:nvPr/>
        </p:nvSpPr>
        <p:spPr>
          <a:xfrm>
            <a:off x="5329889" y="2800759"/>
            <a:ext cx="1730858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789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" name="Google Shape;142;p18"/>
          <p:cNvSpPr/>
          <p:nvPr/>
        </p:nvSpPr>
        <p:spPr>
          <a:xfrm>
            <a:off x="5329889" y="3246435"/>
            <a:ext cx="1552092" cy="46685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519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1" name="Google Shape;174;p21"/>
          <p:cNvSpPr/>
          <p:nvPr/>
        </p:nvSpPr>
        <p:spPr>
          <a:xfrm>
            <a:off x="3778899" y="4731510"/>
            <a:ext cx="5092342" cy="97882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4268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266701"/>
            <a:ext cx="10515600" cy="553268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Model-</a:t>
            </a:r>
            <a:r>
              <a:rPr lang="en-I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Definition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94303" y="819968"/>
                <a:ext cx="11124946" cy="5636815"/>
              </a:xfrm>
            </p:spPr>
            <p:txBody>
              <a:bodyPr/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Formal Definition of 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 at Risk at confidence level     is the minimum loss such that :</a:t>
                </a:r>
              </a:p>
              <a:p>
                <a:pPr lvl="2"/>
                <a:endParaRPr lang="en-IN" dirty="0"/>
              </a:p>
              <a:p>
                <a:pPr lvl="2"/>
                <a:endParaRPr lang="en-IN" dirty="0"/>
              </a:p>
              <a:p>
                <a:pPr lvl="5"/>
                <a:endParaRPr lang="en-IN" dirty="0"/>
              </a:p>
              <a:p>
                <a:pPr lvl="5"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                                    is the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CDF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Loss</a:t>
                </a:r>
              </a:p>
              <a:p>
                <a:pPr marL="2400300" lvl="5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en-I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Closed-Form </a:t>
                </a:r>
                <a:r>
                  <a:rPr lang="en-IN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I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(Normal Distribution)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 normality assumption </a:t>
                </a:r>
              </a:p>
              <a:p>
                <a:pPr marL="2857500" lvl="6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0" lvl="6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6"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      is the     - quantile of standard deviation</a:t>
                </a:r>
              </a:p>
              <a:p>
                <a:pPr lvl="7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   = 95%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eqArr>
                          <m:eqArr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0.95</m:t>
                            </m:r>
                          </m:e>
                          <m:e/>
                        </m:eqAr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=1.645</a:t>
                </a:r>
              </a:p>
              <a:p>
                <a:pPr lvl="7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   = 99%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0.9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9</m:t>
                            </m:r>
                          </m:e>
                          <m:e/>
                        </m:eqAr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=2.326</a:t>
                </a:r>
              </a:p>
              <a:p>
                <a:pPr lvl="7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Standardization: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𝑉𝑎𝑅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94303" y="819968"/>
                <a:ext cx="11124946" cy="5636815"/>
              </a:xfrm>
              <a:blipFill>
                <a:blip r:embed="rId2"/>
                <a:stretch>
                  <a:fillRect l="-2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11</a:t>
            </a:fld>
            <a:endParaRPr b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812" y="1469473"/>
            <a:ext cx="148002" cy="170202"/>
          </a:xfrm>
          <a:prstGeom prst="rect">
            <a:avLst/>
          </a:prstGeom>
        </p:spPr>
      </p:pic>
      <p:sp>
        <p:nvSpPr>
          <p:cNvPr id="6" name="Google Shape;151;p19"/>
          <p:cNvSpPr/>
          <p:nvPr/>
        </p:nvSpPr>
        <p:spPr>
          <a:xfrm>
            <a:off x="3758244" y="1891900"/>
            <a:ext cx="4662367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73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" name="Google Shape;182;p22"/>
          <p:cNvSpPr/>
          <p:nvPr/>
        </p:nvSpPr>
        <p:spPr>
          <a:xfrm>
            <a:off x="4068788" y="2572243"/>
            <a:ext cx="2118049" cy="39184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" name="Google Shape;166;p20"/>
          <p:cNvSpPr/>
          <p:nvPr/>
        </p:nvSpPr>
        <p:spPr>
          <a:xfrm>
            <a:off x="4711959" y="4163179"/>
            <a:ext cx="2341984" cy="41781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78694" y="4660256"/>
                <a:ext cx="46653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Times New Roman" panose="020206030504050203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IN" sz="18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Times New Roman" panose="02020603050405020304" pitchFamily="18" charset="0"/>
                              <a:sym typeface="Calibri"/>
                            </a:rPr>
                            <m:t>𝑧</m:t>
                          </m:r>
                        </m:e>
                        <m:sub>
                          <m:r>
                            <a:rPr lang="en-IN" sz="18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Times New Roman" panose="02020603050405020304" pitchFamily="18" charset="0"/>
                              <a:sym typeface="Calibri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IN" sz="1800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694" y="4660256"/>
                <a:ext cx="466530" cy="276999"/>
              </a:xfrm>
              <a:prstGeom prst="rect">
                <a:avLst/>
              </a:prstGeom>
              <a:blipFill>
                <a:blip r:embed="rId7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132" y="4767053"/>
            <a:ext cx="148002" cy="1702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959" y="5049157"/>
            <a:ext cx="148002" cy="1702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959" y="5509769"/>
            <a:ext cx="148002" cy="1702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053943" y="5895007"/>
                <a:ext cx="46653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Times New Roman" panose="020206030504050203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IN" sz="18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Times New Roman" panose="02020603050405020304" pitchFamily="18" charset="0"/>
                              <a:sym typeface="Calibri"/>
                            </a:rPr>
                            <m:t>𝑧</m:t>
                          </m:r>
                        </m:e>
                        <m:sub>
                          <m:r>
                            <a:rPr lang="en-IN" sz="18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Times New Roman" panose="02020603050405020304" pitchFamily="18" charset="0"/>
                              <a:sym typeface="Calibri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IN" sz="1800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943" y="5895007"/>
                <a:ext cx="466530" cy="276999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654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E14E705-BAD9-924E-2CF1-5328743A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9352282A-A1D4-12B5-F99A-46519A6A9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2EF1753F-EE2F-0293-4BA0-8553F8F27B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12</a:t>
            </a:fld>
            <a:endParaRPr b="0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04F6E94D-4986-5FF7-06C0-A2063EA62DE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16" name="Google Shape;259;p32">
            <a:extLst>
              <a:ext uri="{FF2B5EF4-FFF2-40B4-BE49-F238E27FC236}">
                <a16:creationId xmlns:a16="http://schemas.microsoft.com/office/drawing/2014/main" id="{BDF421B8-4F02-55CD-6A61-D5B54D838C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938572"/>
              </p:ext>
            </p:extLst>
          </p:nvPr>
        </p:nvGraphicFramePr>
        <p:xfrm>
          <a:off x="983839" y="3021586"/>
          <a:ext cx="4970221" cy="31201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2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4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Aspect </a:t>
                      </a:r>
                      <a:endParaRPr sz="14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Detail</a:t>
                      </a:r>
                      <a:endParaRPr sz="8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Statment</a:t>
                      </a:r>
                      <a:r>
                        <a:rPr lang="en" sz="9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8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71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Used in VaR</a:t>
                      </a:r>
                      <a:endParaRPr sz="14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Upper bound on loss probability using only expected loss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5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Limitation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loose, Works for only non-negative loss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Google Shape;260;p32">
            <a:extLst>
              <a:ext uri="{FF2B5EF4-FFF2-40B4-BE49-F238E27FC236}">
                <a16:creationId xmlns:a16="http://schemas.microsoft.com/office/drawing/2014/main" id="{B8FE59CA-7079-0410-19F7-7C807A4614C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58682" y="3617629"/>
            <a:ext cx="2610030" cy="61959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61;p32">
            <a:extLst>
              <a:ext uri="{FF2B5EF4-FFF2-40B4-BE49-F238E27FC236}">
                <a16:creationId xmlns:a16="http://schemas.microsoft.com/office/drawing/2014/main" id="{96FCBFCE-E8CA-DCB7-B0C7-6B259D51A995}"/>
              </a:ext>
            </a:extLst>
          </p:cNvPr>
          <p:cNvSpPr txBox="1"/>
          <p:nvPr/>
        </p:nvSpPr>
        <p:spPr>
          <a:xfrm>
            <a:off x="551215" y="301246"/>
            <a:ext cx="1108957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"/>
                <a:cs typeface="Times New Roman" panose="02020603050405020304" pitchFamily="18" charset="0"/>
                <a:sym typeface="Times"/>
              </a:rPr>
              <a:t>Probability Bounds Used in VaR </a:t>
            </a:r>
            <a:r>
              <a:rPr lang="en" sz="2000" b="1" dirty="0">
                <a:solidFill>
                  <a:schemeClr val="dk1"/>
                </a:solidFill>
                <a:latin typeface="Times New Roman" panose="02020603050405020304" pitchFamily="18" charset="0"/>
                <a:ea typeface="Times"/>
                <a:cs typeface="Times New Roman" panose="02020603050405020304" pitchFamily="18" charset="0"/>
                <a:sym typeface="Times"/>
              </a:rPr>
              <a:t>Estimation</a:t>
            </a:r>
            <a:r>
              <a:rPr lang="en" sz="2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"/>
                <a:cs typeface="Times New Roman" panose="02020603050405020304" pitchFamily="18" charset="0"/>
                <a:sym typeface="Times"/>
              </a:rPr>
              <a:t>​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Google Shape;262;p32">
            <a:extLst>
              <a:ext uri="{FF2B5EF4-FFF2-40B4-BE49-F238E27FC236}">
                <a16:creationId xmlns:a16="http://schemas.microsoft.com/office/drawing/2014/main" id="{851E7E1D-EFCA-3562-5947-9A46AC414276}"/>
              </a:ext>
            </a:extLst>
          </p:cNvPr>
          <p:cNvSpPr txBox="1"/>
          <p:nvPr/>
        </p:nvSpPr>
        <p:spPr>
          <a:xfrm>
            <a:off x="514350" y="712548"/>
            <a:ext cx="5354362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9400" marR="0" lvl="1" indent="-1460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Why These Bounds Matter:​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dirty="0"/>
          </a:p>
        </p:txBody>
      </p:sp>
      <p:sp>
        <p:nvSpPr>
          <p:cNvPr id="20" name="Google Shape;263;p32">
            <a:extLst>
              <a:ext uri="{FF2B5EF4-FFF2-40B4-BE49-F238E27FC236}">
                <a16:creationId xmlns:a16="http://schemas.microsoft.com/office/drawing/2014/main" id="{EFE6CD04-35FF-D69F-4791-0279E86D34D5}"/>
              </a:ext>
            </a:extLst>
          </p:cNvPr>
          <p:cNvSpPr txBox="1"/>
          <p:nvPr/>
        </p:nvSpPr>
        <p:spPr>
          <a:xfrm>
            <a:off x="821602" y="1074815"/>
            <a:ext cx="8972848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They provide as with the mathematical guarantees on loss proabilities without assuming normal distribution and explains why Monte Carlo works better than deterministic.​</a:t>
            </a:r>
            <a:endParaRPr dirty="0"/>
          </a:p>
        </p:txBody>
      </p:sp>
      <p:sp>
        <p:nvSpPr>
          <p:cNvPr id="21" name="Google Shape;264;p32">
            <a:extLst>
              <a:ext uri="{FF2B5EF4-FFF2-40B4-BE49-F238E27FC236}">
                <a16:creationId xmlns:a16="http://schemas.microsoft.com/office/drawing/2014/main" id="{C37FAD07-6330-F23E-5C9D-D4A1A5E5D3BC}"/>
              </a:ext>
            </a:extLst>
          </p:cNvPr>
          <p:cNvSpPr txBox="1"/>
          <p:nvPr/>
        </p:nvSpPr>
        <p:spPr>
          <a:xfrm>
            <a:off x="2579008" y="2074150"/>
            <a:ext cx="65794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Have used 4 Bounds that we studied</a:t>
            </a:r>
            <a:endParaRPr sz="1800" b="1" dirty="0"/>
          </a:p>
        </p:txBody>
      </p:sp>
      <p:sp>
        <p:nvSpPr>
          <p:cNvPr id="22" name="Google Shape;265;p32">
            <a:extLst>
              <a:ext uri="{FF2B5EF4-FFF2-40B4-BE49-F238E27FC236}">
                <a16:creationId xmlns:a16="http://schemas.microsoft.com/office/drawing/2014/main" id="{A5B1D0CF-8EA3-5FB0-A1B3-C1D6AEC2DBFF}"/>
              </a:ext>
            </a:extLst>
          </p:cNvPr>
          <p:cNvSpPr txBox="1"/>
          <p:nvPr/>
        </p:nvSpPr>
        <p:spPr>
          <a:xfrm>
            <a:off x="2111332" y="2588294"/>
            <a:ext cx="4266133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9400" marR="0" lvl="1" indent="-1460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"/>
              <a:buAutoNum type="arabicPeriod"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Markov's Inequality</a:t>
            </a:r>
            <a:endParaRPr dirty="0"/>
          </a:p>
        </p:txBody>
      </p:sp>
      <p:graphicFrame>
        <p:nvGraphicFramePr>
          <p:cNvPr id="23" name="Google Shape;266;p32">
            <a:extLst>
              <a:ext uri="{FF2B5EF4-FFF2-40B4-BE49-F238E27FC236}">
                <a16:creationId xmlns:a16="http://schemas.microsoft.com/office/drawing/2014/main" id="{2B8F4FF9-FEEA-D0C7-9A34-8D13C33FCB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6534057"/>
              </p:ext>
            </p:extLst>
          </p:nvPr>
        </p:nvGraphicFramePr>
        <p:xfrm>
          <a:off x="6683603" y="3021586"/>
          <a:ext cx="4021325" cy="31201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05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5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4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Aspect </a:t>
                      </a:r>
                      <a:endParaRPr sz="14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Detail</a:t>
                      </a:r>
                      <a:endParaRPr sz="14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Statment 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71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Used in VaR</a:t>
                      </a:r>
                      <a:endParaRPr sz="14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Bounds deviation probability using mean and variance only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5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Limitation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distribution assumption, but still conservative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Google Shape;267;p32">
            <a:extLst>
              <a:ext uri="{FF2B5EF4-FFF2-40B4-BE49-F238E27FC236}">
                <a16:creationId xmlns:a16="http://schemas.microsoft.com/office/drawing/2014/main" id="{490043BF-E003-7DE2-DF1D-BFD697A81607}"/>
              </a:ext>
            </a:extLst>
          </p:cNvPr>
          <p:cNvSpPr txBox="1"/>
          <p:nvPr/>
        </p:nvSpPr>
        <p:spPr>
          <a:xfrm>
            <a:off x="7512868" y="2523283"/>
            <a:ext cx="5657101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Times"/>
                <a:ea typeface="Times"/>
                <a:cs typeface="Times"/>
                <a:sym typeface="Times"/>
              </a:rPr>
              <a:t>2. </a:t>
            </a:r>
            <a:r>
              <a:rPr lang="en" sz="1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Chebyshev’s Inequality </a:t>
            </a:r>
            <a:endParaRPr dirty="0"/>
          </a:p>
        </p:txBody>
      </p:sp>
      <p:pic>
        <p:nvPicPr>
          <p:cNvPr id="25" name="Google Shape;268;p32">
            <a:extLst>
              <a:ext uri="{FF2B5EF4-FFF2-40B4-BE49-F238E27FC236}">
                <a16:creationId xmlns:a16="http://schemas.microsoft.com/office/drawing/2014/main" id="{BCE766A2-8F49-6A49-C85C-0DAC022871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3555" y="3543882"/>
            <a:ext cx="2538934" cy="7670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9925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CE7E4F2-4CE6-86E1-6CD5-870B71AE6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B87C68DD-C771-8FC7-1E6D-5B4D46F2E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9AA9571D-1021-AA99-F9BD-AB318D3E944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59ACA243-599F-4B7F-E500-35E81B052C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13</a:t>
            </a:fld>
            <a:endParaRPr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34A96-D1AE-B1B7-F6D6-70B60A0A4C33}"/>
              </a:ext>
            </a:extLst>
          </p:cNvPr>
          <p:cNvSpPr txBox="1"/>
          <p:nvPr/>
        </p:nvSpPr>
        <p:spPr>
          <a:xfrm>
            <a:off x="3048786" y="800177"/>
            <a:ext cx="6094428" cy="475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"/>
                <a:cs typeface="Times New Roman" panose="02020603050405020304" pitchFamily="18" charset="0"/>
                <a:sym typeface="Times"/>
              </a:rPr>
              <a:t>Probability Bounds Used in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"/>
                <a:cs typeface="Times New Roman" panose="02020603050405020304" pitchFamily="18" charset="0"/>
                <a:sym typeface="Times"/>
              </a:rPr>
              <a:t>VaR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"/>
                <a:cs typeface="Times New Roman" panose="02020603050405020304" pitchFamily="18" charset="0"/>
                <a:sym typeface="Times"/>
              </a:rPr>
              <a:t> Estimation ​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Google Shape;273;p33">
            <a:extLst>
              <a:ext uri="{FF2B5EF4-FFF2-40B4-BE49-F238E27FC236}">
                <a16:creationId xmlns:a16="http://schemas.microsoft.com/office/drawing/2014/main" id="{C3F2C280-1185-8B11-9FCA-C885A40E58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0041425"/>
              </p:ext>
            </p:extLst>
          </p:nvPr>
        </p:nvGraphicFramePr>
        <p:xfrm>
          <a:off x="1692700" y="2814113"/>
          <a:ext cx="3473227" cy="362758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86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Aspect </a:t>
                      </a:r>
                      <a:endParaRPr sz="14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Detail</a:t>
                      </a:r>
                      <a:endParaRPr sz="16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Statment 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438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Used in VaR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Exponential tail bound – much tighter than Markov/Chebyshev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438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Limitation</a:t>
                      </a:r>
                      <a:endParaRPr sz="14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knowledge of moment generating function; harder to compute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Google Shape;274;p33">
            <a:extLst>
              <a:ext uri="{FF2B5EF4-FFF2-40B4-BE49-F238E27FC236}">
                <a16:creationId xmlns:a16="http://schemas.microsoft.com/office/drawing/2014/main" id="{0B470413-4872-6AEA-A671-0C04FEFDC2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4692254"/>
              </p:ext>
            </p:extLst>
          </p:nvPr>
        </p:nvGraphicFramePr>
        <p:xfrm>
          <a:off x="6647659" y="2844139"/>
          <a:ext cx="3636984" cy="29997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8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0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305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Aspect </a:t>
                      </a:r>
                      <a:endParaRPr sz="14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Detail</a:t>
                      </a:r>
                      <a:endParaRPr sz="14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05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Statment 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Convex:</a:t>
                      </a:r>
                      <a:endParaRPr sz="11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11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Used in VaR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Proves deterministic VaR underestimates true risk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11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Limitation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provides conceptual direction, not numerical bound</a:t>
                      </a:r>
                      <a:endParaRPr sz="1200" u="none" strike="noStrike" cap="none" dirty="0"/>
                    </a:p>
                  </a:txBody>
                  <a:tcPr marL="100025" marR="100025" marT="100025" marB="1000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Google Shape;278;p33">
            <a:extLst>
              <a:ext uri="{FF2B5EF4-FFF2-40B4-BE49-F238E27FC236}">
                <a16:creationId xmlns:a16="http://schemas.microsoft.com/office/drawing/2014/main" id="{D069D00A-CB5D-1E36-D31E-7E0D6CB9769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86821" y="3340304"/>
            <a:ext cx="2354579" cy="626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79;p33">
            <a:extLst>
              <a:ext uri="{FF2B5EF4-FFF2-40B4-BE49-F238E27FC236}">
                <a16:creationId xmlns:a16="http://schemas.microsoft.com/office/drawing/2014/main" id="{4EDE5CF3-6E73-7186-FAE1-04BE748D3C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4502" y="3550819"/>
            <a:ext cx="1400141" cy="36087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1B9EE24-F4FB-BBF3-AC3F-30E418254F39}"/>
              </a:ext>
            </a:extLst>
          </p:cNvPr>
          <p:cNvSpPr txBox="1"/>
          <p:nvPr/>
        </p:nvSpPr>
        <p:spPr>
          <a:xfrm>
            <a:off x="2234759" y="2038347"/>
            <a:ext cx="2120425" cy="39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latin typeface="Times"/>
                <a:ea typeface="Times"/>
                <a:cs typeface="Times"/>
                <a:sym typeface="Times"/>
              </a:rPr>
              <a:t>3. </a:t>
            </a:r>
            <a:r>
              <a:rPr lang="en-IN" sz="1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Chernoff Bound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3BC352-882E-51AE-17DA-573FDFD98FC9}"/>
              </a:ext>
            </a:extLst>
          </p:cNvPr>
          <p:cNvSpPr txBox="1"/>
          <p:nvPr/>
        </p:nvSpPr>
        <p:spPr>
          <a:xfrm>
            <a:off x="7096572" y="2035990"/>
            <a:ext cx="3047214" cy="39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latin typeface="Times"/>
                <a:ea typeface="Times"/>
                <a:cs typeface="Times"/>
                <a:sym typeface="Times"/>
              </a:rPr>
              <a:t>4. </a:t>
            </a:r>
            <a:r>
              <a:rPr lang="en-IN" sz="1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Jensen’s Inequality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6937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266700"/>
            <a:ext cx="10515600" cy="479749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Approach -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94303" y="905069"/>
                <a:ext cx="10503724" cy="521521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Deterministic: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Once parameters are estimated, the decision logic does NOT depend on randomness or stochastic simulations</a:t>
                </a:r>
              </a:p>
              <a:p>
                <a:pPr marL="558800" lvl="1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en-I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Deterministic Baseline Strategy: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portfolio weights (30%,25%,20%,15%,10%)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OLS Regression to estimate factor exposures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(fixed once)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threshold at 95% confidence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Closed-form Gaussian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calculation</a:t>
                </a:r>
              </a:p>
              <a:p>
                <a:pPr marL="558800" lvl="1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en-IN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Rule:</a:t>
                </a:r>
                <a:endParaRPr lang="en-I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8"/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𝑉𝑎𝑅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0.95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Exception</a:t>
                </a:r>
              </a:p>
              <a:p>
                <a:pPr lvl="1">
                  <a:buClr>
                    <a:srgbClr val="000000"/>
                  </a:buClr>
                </a:pPr>
                <a:r>
                  <a:rPr lang="en-I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rule is deterministic because:</a:t>
                </a:r>
              </a:p>
              <a:p>
                <a:pPr lvl="2">
                  <a:buClr>
                    <a:srgbClr val="000000"/>
                  </a:buClr>
                </a:pPr>
                <a:r>
                  <a:rPr lang="en-I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Portfolio weights are fixed</a:t>
                </a:r>
              </a:p>
              <a:p>
                <a:pPr lvl="2">
                  <a:buClr>
                    <a:srgbClr val="000000"/>
                  </a:buClr>
                </a:pPr>
                <a:r>
                  <a:rPr lang="en-I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 exposure estimated once and remain fixed</a:t>
                </a:r>
              </a:p>
              <a:p>
                <a:pPr lvl="2">
                  <a:buClr>
                    <a:srgbClr val="000000"/>
                  </a:buClr>
                </a:pPr>
                <a:r>
                  <a:rPr lang="en-IN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I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confidence level does not change</a:t>
                </a:r>
              </a:p>
              <a:p>
                <a:pPr lvl="2">
                  <a:buClr>
                    <a:srgbClr val="000000"/>
                  </a:buClr>
                </a:pPr>
                <a:r>
                  <a:rPr lang="en-I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Monte Carlo simulations in decision logic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58800" lvl="1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94303" y="905069"/>
                <a:ext cx="10503724" cy="5215219"/>
              </a:xfrm>
              <a:blipFill>
                <a:blip r:embed="rId2"/>
                <a:stretch>
                  <a:fillRect l="-232" t="-818" r="-8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14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1346422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266701"/>
            <a:ext cx="10515600" cy="46108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Approach -Pipeline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03" y="727789"/>
            <a:ext cx="10667746" cy="5822301"/>
          </a:xfrm>
        </p:spPr>
        <p:txBody>
          <a:bodyPr/>
          <a:lstStyle/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IN" dirty="0"/>
          </a:p>
          <a:p>
            <a:pPr marL="76200" indent="0">
              <a:buNone/>
            </a:pPr>
            <a:endParaRPr lang="en-IN" dirty="0"/>
          </a:p>
          <a:p>
            <a:pPr marL="76200" indent="0">
              <a:buNone/>
            </a:pPr>
            <a:endParaRPr lang="en-IN" dirty="0"/>
          </a:p>
          <a:p>
            <a:pPr marL="76200" indent="0">
              <a:buNone/>
            </a:pPr>
            <a:endParaRPr lang="en-IN" dirty="0"/>
          </a:p>
          <a:p>
            <a:pPr marL="76200" indent="0">
              <a:buNone/>
            </a:pPr>
            <a:endParaRPr lang="en-IN" dirty="0"/>
          </a:p>
          <a:p>
            <a:pPr marL="76200" indent="0">
              <a:buNone/>
            </a:pPr>
            <a:endParaRPr lang="en-IN" dirty="0"/>
          </a:p>
          <a:p>
            <a:pPr marL="76200" indent="0">
              <a:buNone/>
            </a:pPr>
            <a:endParaRPr lang="en-IN" dirty="0"/>
          </a:p>
          <a:p>
            <a:pPr marL="76200" indent="0">
              <a:buNone/>
            </a:pPr>
            <a:r>
              <a:rPr lang="en-US" b="1" dirty="0"/>
              <a:t>This pipeline transforms historical portfolio and factor data into a closed-form </a:t>
            </a:r>
            <a:r>
              <a:rPr lang="en-US" b="1" dirty="0" err="1"/>
              <a:t>VaR</a:t>
            </a:r>
            <a:r>
              <a:rPr lang="en-US" b="1" dirty="0"/>
              <a:t> estimate, providing a fixed and interpretable baseline for risk measurement.</a:t>
            </a:r>
            <a:endParaRPr lang="en-US" dirty="0"/>
          </a:p>
          <a:p>
            <a:pPr marL="7620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15</a:t>
            </a:fld>
            <a:endParaRPr b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88" y="2313993"/>
            <a:ext cx="10929575" cy="173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0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533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Approach- Implementation</a:t>
            </a:r>
            <a:endParaRPr lang="en-IN" sz="2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09127" y="989045"/>
            <a:ext cx="5310673" cy="5187918"/>
          </a:xfrm>
        </p:spPr>
        <p:txBody>
          <a:bodyPr>
            <a:normAutofit/>
          </a:bodyPr>
          <a:lstStyle/>
          <a:p>
            <a:pPr indent="-381000">
              <a:lnSpc>
                <a:spcPct val="70000"/>
              </a:lnSpc>
              <a:buSzPts val="2400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and Portfolio Construction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>
          <a:xfrm>
            <a:off x="6019800" y="989045"/>
            <a:ext cx="5334000" cy="5187918"/>
          </a:xfrm>
        </p:spPr>
        <p:txBody>
          <a:bodyPr>
            <a:normAutofit/>
          </a:bodyPr>
          <a:lstStyle/>
          <a:p>
            <a:pPr indent="-381000">
              <a:lnSpc>
                <a:spcPct val="70000"/>
              </a:lnSpc>
              <a:buSzPts val="2400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  <a:p>
            <a:pPr marL="76200" indent="0">
              <a:lnSpc>
                <a:spcPct val="70000"/>
              </a:lnSpc>
              <a:buSzPts val="2400"/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lnSpc>
                <a:spcPct val="70000"/>
              </a:lnSpc>
              <a:buSzPts val="2400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lnSpc>
                <a:spcPct val="70000"/>
              </a:lnSpc>
              <a:buSzPts val="2400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lnSpc>
                <a:spcPct val="70000"/>
              </a:lnSpc>
              <a:buSzPts val="2400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lnSpc>
                <a:spcPct val="70000"/>
              </a:lnSpc>
              <a:buSzPts val="2400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lnSpc>
                <a:spcPct val="70000"/>
              </a:lnSpc>
              <a:buSzPts val="2400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lnSpc>
                <a:spcPct val="70000"/>
              </a:lnSpc>
              <a:buSzPts val="2400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lnSpc>
                <a:spcPct val="70000"/>
              </a:lnSpc>
              <a:buSzPts val="2400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lnSpc>
                <a:spcPct val="70000"/>
              </a:lnSpc>
              <a:buSzPts val="2400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here train and test dates are</a:t>
            </a:r>
          </a:p>
          <a:p>
            <a:pPr lvl="1" indent="-381000">
              <a:lnSpc>
                <a:spcPct val="70000"/>
              </a:lnSpc>
              <a:buSzPts val="2400"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16</a:t>
            </a:fld>
            <a:endParaRPr b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38782"/>
            <a:ext cx="4628501" cy="418361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476" y="1638782"/>
            <a:ext cx="3488295" cy="25498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323" y="4707883"/>
            <a:ext cx="3600953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4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533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Approach- Implementation</a:t>
            </a:r>
            <a:endParaRPr lang="en-IN" sz="2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09127" y="989045"/>
            <a:ext cx="5310673" cy="5187918"/>
          </a:xfrm>
        </p:spPr>
        <p:txBody>
          <a:bodyPr>
            <a:normAutofit/>
          </a:bodyPr>
          <a:lstStyle/>
          <a:p>
            <a:pPr indent="-381000">
              <a:lnSpc>
                <a:spcPct val="70000"/>
              </a:lnSpc>
              <a:buSzPts val="2400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OLS Factor Regression and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Calculation</a:t>
            </a:r>
          </a:p>
          <a:p>
            <a:pPr indent="-381000">
              <a:lnSpc>
                <a:spcPct val="70000"/>
              </a:lnSpc>
              <a:buSzPts val="2400"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>
          <a:xfrm>
            <a:off x="6019800" y="989045"/>
            <a:ext cx="5334000" cy="5187918"/>
          </a:xfrm>
        </p:spPr>
        <p:txBody>
          <a:bodyPr>
            <a:normAutofit/>
          </a:bodyPr>
          <a:lstStyle/>
          <a:p>
            <a:pPr indent="-381000">
              <a:lnSpc>
                <a:spcPct val="70000"/>
              </a:lnSpc>
              <a:buSzPts val="2400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Distribution Visualization</a:t>
            </a:r>
          </a:p>
          <a:p>
            <a:pPr indent="-381000">
              <a:lnSpc>
                <a:spcPct val="70000"/>
              </a:lnSpc>
              <a:buSzPts val="2400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lnSpc>
                <a:spcPct val="70000"/>
              </a:lnSpc>
              <a:buSzPts val="2400"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17</a:t>
            </a:fld>
            <a:endParaRPr b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509" y="1638782"/>
            <a:ext cx="3154758" cy="20113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502" y="3650112"/>
            <a:ext cx="3184771" cy="22561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358" y="2275710"/>
            <a:ext cx="6074690" cy="130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55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998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Approach- Results</a:t>
            </a:r>
            <a:endParaRPr lang="en-IN" sz="2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65110"/>
            <a:ext cx="5181600" cy="5411853"/>
          </a:xfrm>
        </p:spPr>
        <p:txBody>
          <a:bodyPr>
            <a:normAutofit/>
          </a:bodyPr>
          <a:lstStyle/>
          <a:p>
            <a:pPr lvl="1">
              <a:lnSpc>
                <a:spcPct val="7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Fit Statistics</a:t>
            </a:r>
          </a:p>
          <a:p>
            <a:pPr lvl="2">
              <a:lnSpc>
                <a:spcPct val="7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7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7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7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7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7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7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7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7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70000"/>
              </a:lnSpc>
              <a:buClr>
                <a:srgbClr val="000000"/>
              </a:buClr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Model Statistics</a:t>
            </a:r>
          </a:p>
          <a:p>
            <a:pPr lvl="2">
              <a:lnSpc>
                <a:spcPct val="70000"/>
              </a:lnSpc>
              <a:buClr>
                <a:srgbClr val="000000"/>
              </a:buClr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>
          <a:xfrm>
            <a:off x="5924939" y="765110"/>
            <a:ext cx="5428861" cy="5411853"/>
          </a:xfrm>
        </p:spPr>
        <p:txBody>
          <a:bodyPr/>
          <a:lstStyle/>
          <a:p>
            <a:pPr marL="457200" lvl="1">
              <a:spcBef>
                <a:spcPts val="100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</a:t>
            </a:r>
          </a:p>
          <a:p>
            <a:pPr marL="914400" lvl="2">
              <a:spcBef>
                <a:spcPts val="1000"/>
              </a:spcBef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18</a:t>
            </a:fld>
            <a:endParaRPr b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043" y="1165095"/>
            <a:ext cx="2621756" cy="17305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348" y="3740712"/>
            <a:ext cx="3610366" cy="15911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797" y="1387334"/>
            <a:ext cx="2981741" cy="12860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719" y="3022425"/>
            <a:ext cx="2372056" cy="112410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7688" y="4559342"/>
            <a:ext cx="2257087" cy="1822796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8250085" y="4143615"/>
            <a:ext cx="18662" cy="443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24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4664"/>
          </a:xfrm>
        </p:spPr>
        <p:txBody>
          <a:bodyPr>
            <a:normAutofit/>
          </a:bodyPr>
          <a:lstStyle/>
          <a:p>
            <a:pPr algn="ctr"/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Approach- Results</a:t>
            </a:r>
            <a:endParaRPr lang="en-IN" sz="2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587" y="929790"/>
            <a:ext cx="11626137" cy="5354885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Model Graphs (PDF, CDF,  Risk Decomposition)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19</a:t>
            </a:fld>
            <a:endParaRPr b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055" y="1494454"/>
            <a:ext cx="6553199" cy="467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05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2c7b2bafd_0_2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20</a:t>
            </a:fld>
            <a:endParaRPr b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135838"/>
              </p:ext>
            </p:extLst>
          </p:nvPr>
        </p:nvGraphicFramePr>
        <p:xfrm>
          <a:off x="205272" y="718457"/>
          <a:ext cx="11663266" cy="5346441"/>
        </p:xfrm>
        <a:graphic>
          <a:graphicData uri="http://schemas.openxmlformats.org/drawingml/2006/table">
            <a:tbl>
              <a:tblPr firstRow="1" bandRow="1">
                <a:tableStyleId>{90381E67-D018-4355-BFE7-A47452256B26}</a:tableStyleId>
              </a:tblPr>
              <a:tblGrid>
                <a:gridCol w="5831633">
                  <a:extLst>
                    <a:ext uri="{9D8B030D-6E8A-4147-A177-3AD203B41FA5}">
                      <a16:colId xmlns:a16="http://schemas.microsoft.com/office/drawing/2014/main" val="292562604"/>
                    </a:ext>
                  </a:extLst>
                </a:gridCol>
                <a:gridCol w="5831633">
                  <a:extLst>
                    <a:ext uri="{9D8B030D-6E8A-4147-A177-3AD203B41FA5}">
                      <a16:colId xmlns:a16="http://schemas.microsoft.com/office/drawing/2014/main" val="1118983486"/>
                    </a:ext>
                  </a:extLst>
                </a:gridCol>
              </a:tblGrid>
              <a:tr h="5346441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Backtesting Code Snippet</a:t>
                      </a:r>
                      <a:endParaRPr lang="en-IN" sz="2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5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algn="ctr"/>
                      <a:r>
                        <a:rPr lang="en-US" sz="25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Output </a:t>
                      </a:r>
                      <a:endParaRPr lang="en-IN" sz="25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5138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189338" y="175819"/>
            <a:ext cx="636263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Approach- Backtesting Results</a:t>
            </a:r>
            <a:endParaRPr lang="en-IN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91" y="1658880"/>
            <a:ext cx="5603617" cy="40118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719" y="2043085"/>
            <a:ext cx="5755987" cy="27715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121298"/>
            <a:ext cx="10515600" cy="709127"/>
          </a:xfrm>
        </p:spPr>
        <p:txBody>
          <a:bodyPr>
            <a:normAutofit/>
          </a:bodyPr>
          <a:lstStyle/>
          <a:p>
            <a:pPr algn="ctr"/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Randomized Approach - Motivation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03" y="830425"/>
            <a:ext cx="10503724" cy="52898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Deterministic Approach has Limitations</a:t>
            </a:r>
          </a:p>
          <a:p>
            <a:pPr lvl="1"/>
            <a:endParaRPr lang="en-IN" dirty="0"/>
          </a:p>
          <a:p>
            <a:pPr lvl="2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21</a:t>
            </a:fld>
            <a:endParaRPr b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109104"/>
              </p:ext>
            </p:extLst>
          </p:nvPr>
        </p:nvGraphicFramePr>
        <p:xfrm>
          <a:off x="942391" y="1464907"/>
          <a:ext cx="10411408" cy="4544007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205704">
                  <a:extLst>
                    <a:ext uri="{9D8B030D-6E8A-4147-A177-3AD203B41FA5}">
                      <a16:colId xmlns:a16="http://schemas.microsoft.com/office/drawing/2014/main" val="2948113153"/>
                    </a:ext>
                  </a:extLst>
                </a:gridCol>
                <a:gridCol w="5205704">
                  <a:extLst>
                    <a:ext uri="{9D8B030D-6E8A-4147-A177-3AD203B41FA5}">
                      <a16:colId xmlns:a16="http://schemas.microsoft.com/office/drawing/2014/main" val="3756236385"/>
                    </a:ext>
                  </a:extLst>
                </a:gridCol>
              </a:tblGrid>
              <a:tr h="63881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Problem</a:t>
                      </a:r>
                      <a:endParaRPr lang="en-IN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886367473"/>
                  </a:ext>
                </a:extLst>
              </a:tr>
              <a:tr h="1313785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Normality Assumption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Markets don't follow perfect bell curves; real markets have "fat tails" (extreme crashes happen more often than predicted)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55779246"/>
                  </a:ext>
                </a:extLst>
              </a:tr>
              <a:tr h="97629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Uncertainty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parameters are estimated from limited historical data; actual future parameters are unknown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22781586"/>
                  </a:ext>
                </a:extLst>
              </a:tr>
              <a:tr h="97629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Parameters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 exposures and volatility are estimated once and never updated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96320039"/>
                  </a:ext>
                </a:extLst>
              </a:tr>
              <a:tr h="638813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Scenario Exploration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simulate "what-if" scenarios or stress events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19249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485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266700"/>
            <a:ext cx="10515600" cy="442427"/>
          </a:xfrm>
        </p:spPr>
        <p:txBody>
          <a:bodyPr>
            <a:noAutofit/>
          </a:bodyPr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Randomized Approach- Algorithm Design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18" y="1371600"/>
            <a:ext cx="10336439" cy="41148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03" y="709127"/>
            <a:ext cx="10503724" cy="541116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22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960109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1324"/>
          </a:xfrm>
        </p:spPr>
        <p:txBody>
          <a:bodyPr>
            <a:noAutofit/>
          </a:bodyPr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Randomized Approach- Algorithm Design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8200" y="746450"/>
            <a:ext cx="5181600" cy="5430513"/>
          </a:xfrm>
        </p:spPr>
        <p:txBody>
          <a:bodyPr>
            <a:normAutofit/>
          </a:bodyPr>
          <a:lstStyle/>
          <a:p>
            <a:pPr indent="-381000">
              <a:buSzPts val="24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795" y="1757158"/>
            <a:ext cx="5070241" cy="335601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>
          <a:xfrm>
            <a:off x="6139543" y="746450"/>
            <a:ext cx="5214257" cy="5430513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testing</a:t>
            </a:r>
            <a:r>
              <a:rPr lang="en-I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23</a:t>
            </a:fld>
            <a:endParaRPr b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43" y="1757159"/>
            <a:ext cx="5153945" cy="335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1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9985"/>
          </a:xfrm>
        </p:spPr>
        <p:txBody>
          <a:bodyPr>
            <a:noAutofit/>
          </a:bodyPr>
          <a:lstStyle/>
          <a:p>
            <a:pPr algn="ctr">
              <a:buSzPts val="1800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Results – Distribution Comparison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31846" y="765110"/>
            <a:ext cx="5487954" cy="5411853"/>
          </a:xfrm>
        </p:spPr>
        <p:txBody>
          <a:bodyPr>
            <a:normAutofit/>
          </a:bodyPr>
          <a:lstStyle/>
          <a:p>
            <a:pPr indent="-381000">
              <a:buSzPts val="24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Comparison</a:t>
            </a:r>
          </a:p>
          <a:p>
            <a:pPr indent="-381000">
              <a:buSzPts val="2400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buSzPts val="2400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buSzPts val="2400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buSzPts val="2400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buSzPts val="2400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buSzPts val="2400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1000">
              <a:buSzPts val="2400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81000">
              <a:buSzPts val="24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distribution is Normal</a:t>
            </a:r>
          </a:p>
          <a:p>
            <a:pPr lvl="1" indent="-381000">
              <a:buSzPts val="24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distribution shows wider spread</a:t>
            </a:r>
          </a:p>
          <a:p>
            <a:pPr lvl="1" indent="-381000">
              <a:buSzPts val="24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(0.0010%) is lower than Deterministic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(0.0244%)</a:t>
            </a:r>
          </a:p>
          <a:p>
            <a:pPr lvl="1" indent="-381000">
              <a:buSzPts val="24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Captures tail losses that Normal Distribution ignores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>
          <a:xfrm>
            <a:off x="6086667" y="765110"/>
            <a:ext cx="5267133" cy="5411853"/>
          </a:xfrm>
        </p:spPr>
        <p:txBody>
          <a:bodyPr/>
          <a:lstStyle/>
          <a:p>
            <a:pPr indent="-381000">
              <a:buSzPts val="24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Q-Q Plot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 indent="-381000">
              <a:buSzPts val="24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blue dots exactly fall on the red line- Monte Carlo Matches Normal Distribution </a:t>
            </a:r>
          </a:p>
          <a:p>
            <a:pPr lvl="1" indent="-381000">
              <a:buSzPts val="24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Dots deviate from the red line in tails- Monte Carlo losses are NOT Normal</a:t>
            </a:r>
          </a:p>
          <a:p>
            <a:pPr lvl="1" indent="-381000">
              <a:buSzPts val="24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 indicate heavy tail. This confirms the need for a randomized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24</a:t>
            </a:fld>
            <a:endParaRPr b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03" y="1354167"/>
            <a:ext cx="5092039" cy="27792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748" y="1354166"/>
            <a:ext cx="4591342" cy="277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9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266700"/>
            <a:ext cx="10515600" cy="414435"/>
          </a:xfrm>
        </p:spPr>
        <p:txBody>
          <a:bodyPr>
            <a:normAutofit/>
          </a:bodyPr>
          <a:lstStyle/>
          <a:p>
            <a:pPr algn="ctr">
              <a:buSzPts val="1800"/>
            </a:pPr>
            <a:r>
              <a:rPr lang="en-IN" sz="2100" dirty="0" err="1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VaR</a:t>
            </a:r>
            <a:r>
              <a:rPr lang="en-IN" sz="21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Estimates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03" y="681135"/>
            <a:ext cx="10503724" cy="5439153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Monte Carlo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being lower does not mean it is “better”- it means it is more sensitive to tail risk and captures different aspects of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25</a:t>
            </a:fld>
            <a:endParaRPr b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844" y="808931"/>
            <a:ext cx="7468642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683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878" y="93306"/>
            <a:ext cx="10690025" cy="578499"/>
          </a:xfrm>
        </p:spPr>
        <p:txBody>
          <a:bodyPr>
            <a:normAutofit/>
          </a:bodyPr>
          <a:lstStyle/>
          <a:p>
            <a:pPr algn="ctr"/>
            <a:r>
              <a:rPr lang="en-I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Backtesting</a:t>
            </a:r>
            <a:r>
              <a:rPr lang="en-IN" sz="2800" dirty="0"/>
              <a:t> 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192" y="671805"/>
            <a:ext cx="10612835" cy="544848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26</a:t>
            </a:fld>
            <a:endParaRPr b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451" y="750040"/>
            <a:ext cx="9891576" cy="546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51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581" y="279920"/>
            <a:ext cx="10391446" cy="513184"/>
          </a:xfrm>
        </p:spPr>
        <p:txBody>
          <a:bodyPr>
            <a:normAutofit/>
          </a:bodyPr>
          <a:lstStyle/>
          <a:p>
            <a:pPr algn="ctr"/>
            <a:r>
              <a:rPr lang="en-I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Backtesting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(Deterministic and Monte Carlo) Interpretation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5151" y="1436914"/>
            <a:ext cx="10472876" cy="4683374"/>
          </a:xfrm>
        </p:spPr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Backtesting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Zones( Basel III)</a:t>
            </a:r>
          </a:p>
          <a:p>
            <a:pPr lvl="1" indent="-381000">
              <a:buSzPts val="2400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Good Model, exceptions within expected range</a:t>
            </a:r>
          </a:p>
          <a:p>
            <a:pPr lvl="1" indent="-381000">
              <a:buSzPts val="2400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YELLOW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Caution, moderate exceptions</a:t>
            </a:r>
          </a:p>
          <a:p>
            <a:pPr lvl="1" indent="-381000">
              <a:buSzPts val="2400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Poor Model, too many exceptions</a:t>
            </a:r>
          </a:p>
          <a:p>
            <a:pPr marL="533400" lvl="1" indent="0">
              <a:buSzPts val="2400"/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000000"/>
              </a:buClr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Cumulative Exceptions Over Time</a:t>
            </a:r>
          </a:p>
          <a:p>
            <a:pPr lvl="1">
              <a:buClr>
                <a:srgbClr val="000000"/>
              </a:buCl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model stays below expected exceptions (GREEN zone)</a:t>
            </a:r>
          </a:p>
          <a:p>
            <a:pPr lvl="1">
              <a:buClr>
                <a:srgbClr val="000000"/>
              </a:buCl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model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exceeds expected exceptions (RED zone)</a:t>
            </a:r>
          </a:p>
          <a:p>
            <a:pPr lvl="1">
              <a:buClr>
                <a:srgbClr val="000000"/>
              </a:buCl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is more sensitive to market movements</a:t>
            </a:r>
          </a:p>
          <a:p>
            <a:pPr lvl="1" indent="-381000">
              <a:buSzPts val="24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27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1197877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445" y="387841"/>
            <a:ext cx="10515600" cy="493291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Model Diagnostics 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27887" y="839665"/>
            <a:ext cx="4376057" cy="5159926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exposures change over time. A model that assumes fixed betas will be wrong. You need to update the model regularly.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4581330" y="839665"/>
            <a:ext cx="6772469" cy="5365104"/>
          </a:xfrm>
        </p:spPr>
        <p:txBody>
          <a:bodyPr>
            <a:norm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sz="2000" b="1" dirty="0"/>
          </a:p>
          <a:p>
            <a:pPr>
              <a:lnSpc>
                <a:spcPct val="11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28</a:t>
            </a:fld>
            <a:endParaRPr b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04" y="1306162"/>
            <a:ext cx="3459025" cy="311654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460" y="1306162"/>
            <a:ext cx="5932271" cy="2923211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126508"/>
              </p:ext>
            </p:extLst>
          </p:nvPr>
        </p:nvGraphicFramePr>
        <p:xfrm>
          <a:off x="5162461" y="4329404"/>
          <a:ext cx="6085288" cy="2232667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3042644">
                  <a:extLst>
                    <a:ext uri="{9D8B030D-6E8A-4147-A177-3AD203B41FA5}">
                      <a16:colId xmlns:a16="http://schemas.microsoft.com/office/drawing/2014/main" val="1164348239"/>
                    </a:ext>
                  </a:extLst>
                </a:gridCol>
                <a:gridCol w="3042644">
                  <a:extLst>
                    <a:ext uri="{9D8B030D-6E8A-4147-A177-3AD203B41FA5}">
                      <a16:colId xmlns:a16="http://schemas.microsoft.com/office/drawing/2014/main" val="2624116734"/>
                    </a:ext>
                  </a:extLst>
                </a:gridCol>
              </a:tblGrid>
              <a:tr h="335285">
                <a:tc>
                  <a:txBody>
                    <a:bodyPr/>
                    <a:lstStyle/>
                    <a:p>
                      <a:pPr algn="l"/>
                      <a:r>
                        <a:rPr lang="en-I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Light"/>
                        </a:rPr>
                        <a:t>Graph</a:t>
                      </a:r>
                      <a:endParaRPr lang="en-IN" sz="15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Helvetica Neue Light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Light"/>
                        </a:rPr>
                        <a:t>One-Line Key Message</a:t>
                      </a:r>
                      <a:endParaRPr lang="en-IN" sz="1500" b="0" i="0" u="none" strike="noStrike" cap="none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Helvetica Neue Light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451692567"/>
                  </a:ext>
                </a:extLst>
              </a:tr>
              <a:tr h="518167">
                <a:tc>
                  <a:txBody>
                    <a:bodyPr/>
                    <a:lstStyle/>
                    <a:p>
                      <a:r>
                        <a:rPr lang="en-I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Light"/>
                        </a:rPr>
                        <a:t>Residual Plot</a:t>
                      </a:r>
                      <a:endParaRPr lang="en-IN" sz="15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Helvetica Neue Light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Light"/>
                        </a:rPr>
                        <a:t>No pattern → linear model fits well.</a:t>
                      </a:r>
                      <a:endParaRPr lang="en-US" sz="15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Helvetica Neue Light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49848191"/>
                  </a:ext>
                </a:extLst>
              </a:tr>
              <a:tr h="602313">
                <a:tc>
                  <a:txBody>
                    <a:bodyPr/>
                    <a:lstStyle/>
                    <a:p>
                      <a:r>
                        <a:rPr lang="en-I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Light"/>
                        </a:rPr>
                        <a:t>Residual Distribution</a:t>
                      </a:r>
                      <a:endParaRPr lang="en-IN" sz="15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Helvetica Neue Light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Light"/>
                        </a:rPr>
                        <a:t>Approximately normal → normality assumption holds.</a:t>
                      </a:r>
                      <a:endParaRPr lang="en-US" sz="15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Helvetica Neue Light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79275280"/>
                  </a:ext>
                </a:extLst>
              </a:tr>
              <a:tr h="518167">
                <a:tc>
                  <a:txBody>
                    <a:bodyPr/>
                    <a:lstStyle/>
                    <a:p>
                      <a:r>
                        <a:rPr lang="en-I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Light"/>
                        </a:rPr>
                        <a:t>Autocorrelation</a:t>
                      </a:r>
                      <a:endParaRPr lang="en-IN" sz="15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Helvetica Neue Light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Light"/>
                        </a:rPr>
                        <a:t>No correlation → residuals are independent.</a:t>
                      </a:r>
                      <a:endParaRPr lang="en-US" sz="15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Helvetica Neue Light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64405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148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581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Inference – Domain Perspective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1007706"/>
            <a:ext cx="10515599" cy="516925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29</a:t>
            </a:fld>
            <a:endParaRPr b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90266"/>
              </p:ext>
            </p:extLst>
          </p:nvPr>
        </p:nvGraphicFramePr>
        <p:xfrm>
          <a:off x="1240968" y="1336918"/>
          <a:ext cx="9834468" cy="4681326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917234">
                  <a:extLst>
                    <a:ext uri="{9D8B030D-6E8A-4147-A177-3AD203B41FA5}">
                      <a16:colId xmlns:a16="http://schemas.microsoft.com/office/drawing/2014/main" val="1226862073"/>
                    </a:ext>
                  </a:extLst>
                </a:gridCol>
                <a:gridCol w="4917234">
                  <a:extLst>
                    <a:ext uri="{9D8B030D-6E8A-4147-A177-3AD203B41FA5}">
                      <a16:colId xmlns:a16="http://schemas.microsoft.com/office/drawing/2014/main" val="1625398912"/>
                    </a:ext>
                  </a:extLst>
                </a:gridCol>
              </a:tblGrid>
              <a:tr h="65811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Finding</a:t>
                      </a:r>
                      <a:endParaRPr lang="en-IN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Implication</a:t>
                      </a:r>
                      <a:endParaRPr lang="en-IN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311211286"/>
                  </a:ext>
                </a:extLst>
              </a:tr>
              <a:tr h="100580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Monte Carlo captures tail risk better</a:t>
                      </a:r>
                      <a:endParaRPr lang="en-IN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Better for stress scenarios and extreme market conditions</a:t>
                      </a:r>
                      <a:endParaRPr lang="en-US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63458603"/>
                  </a:ext>
                </a:extLst>
              </a:tr>
              <a:tr h="1005802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Deterministic model is more stable</a:t>
                      </a:r>
                      <a:endParaRPr lang="en-US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Suitable for normal market conditions and regulatory reporting</a:t>
                      </a:r>
                      <a:endParaRPr lang="en-US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78538400"/>
                  </a:ext>
                </a:extLst>
              </a:tr>
              <a:tr h="1005802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Both models produce different VaR estimates</a:t>
                      </a:r>
                      <a:endParaRPr lang="en-US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Model selection matters; use multiple models for robust risk assessment</a:t>
                      </a:r>
                      <a:endParaRPr lang="en-US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77571790"/>
                  </a:ext>
                </a:extLst>
              </a:tr>
              <a:tr h="100580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Rolling recalibration improves performance</a:t>
                      </a:r>
                      <a:endParaRPr lang="en-IN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Risk models must adapt to changing market conditions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4401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41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610" y="224528"/>
            <a:ext cx="10515600" cy="877078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Inference – Computer Science Perspective</a:t>
            </a:r>
            <a:r>
              <a:rPr lang="en-IN" sz="2800" dirty="0">
                <a:solidFill>
                  <a:srgbClr val="F9FAFB"/>
                </a:solidFill>
                <a:latin typeface="quote-cjk-patch"/>
              </a:rPr>
              <a:t/>
            </a:r>
            <a:br>
              <a:rPr lang="en-IN" sz="2800" dirty="0">
                <a:solidFill>
                  <a:srgbClr val="F9FAFB"/>
                </a:solidFill>
                <a:latin typeface="quote-cjk-patch"/>
              </a:rPr>
            </a:b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30</a:t>
            </a:fld>
            <a:endParaRPr b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51" y="1101606"/>
            <a:ext cx="11240072" cy="45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0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266701"/>
            <a:ext cx="10515600" cy="80632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Summary &amp; Conclusion</a:t>
            </a:r>
            <a:b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03" y="830423"/>
            <a:ext cx="10503724" cy="5831677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Accomplished</a:t>
            </a:r>
          </a:p>
          <a:p>
            <a:pPr lvl="2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Accomplished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model: 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Stable, conservative, GREEN zone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Carlo: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Sensitive, captures tail risk, RED zone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serve different purposes in risk management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ctr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both approaches: Deterministic for daily monitoring + Monte Carlo for stress testing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31</a:t>
            </a:fld>
            <a:endParaRPr b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82514"/>
              </p:ext>
            </p:extLst>
          </p:nvPr>
        </p:nvGraphicFramePr>
        <p:xfrm>
          <a:off x="2218612" y="1509189"/>
          <a:ext cx="8128000" cy="265938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037565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382203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Achievement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180656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Understood research paper and probabilistic framework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76413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mathematical model with random variables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89875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deterministic Gaussian </a:t>
                      </a:r>
                      <a:r>
                        <a:rPr lang="en-IN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34704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Monte Carlo </a:t>
                      </a:r>
                      <a:r>
                        <a:rPr lang="en-US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three-tier sampling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946049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2352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266700"/>
            <a:ext cx="10515600" cy="936949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References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03" y="858416"/>
            <a:ext cx="10503724" cy="526187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Cheng, Y. (2025).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Monte Carlo Simulation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Regulatory Backtesting under Basel III. SSRN Working Paper.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Link: </a:t>
            </a:r>
            <a:r>
              <a:rPr lang="en-IN" dirty="0">
                <a:hlinkClick r:id="rId2"/>
              </a:rPr>
              <a:t>https://github.com/Chengyueminga/MarketRisk_VaR</a:t>
            </a:r>
            <a:endParaRPr lang="en-IN" dirty="0"/>
          </a:p>
          <a:p>
            <a:pPr lvl="2"/>
            <a:endParaRPr lang="en-IN" b="1" dirty="0"/>
          </a:p>
          <a:p>
            <a:pPr>
              <a:buClr>
                <a:srgbClr val="000000"/>
              </a:buCl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Stock Market Dataset.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Kaggle.</a:t>
            </a:r>
          </a:p>
          <a:p>
            <a:pPr lvl="2">
              <a:buClr>
                <a:srgbClr val="000000"/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IN" dirty="0">
                <a:hlinkClick r:id="rId3"/>
              </a:rPr>
              <a:t>https://www.kaggle.com/datasets/muhammadahmad246/enhanced-stock-market-dataset</a:t>
            </a:r>
            <a:endParaRPr lang="en-IN" dirty="0"/>
          </a:p>
          <a:p>
            <a:pPr lvl="2">
              <a:buClr>
                <a:srgbClr val="000000"/>
              </a:buCl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Investopedia.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n.d.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 Monte Carlo simulation. Retrieved March 25, 2026,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https://www.investopedia.com/terms/m/montecarlosimulation.asp</a:t>
            </a:r>
            <a:r>
              <a:rPr lang="en-IN" dirty="0"/>
              <a:t/>
            </a:r>
            <a:br>
              <a:rPr lang="en-IN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000000"/>
              </a:buCl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000000"/>
              </a:buClr>
            </a:pPr>
            <a:endParaRPr lang="en-IN" b="1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32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451795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427" y="643812"/>
            <a:ext cx="10515600" cy="5476476"/>
          </a:xfrm>
        </p:spPr>
        <p:txBody>
          <a:bodyPr/>
          <a:lstStyle/>
          <a:p>
            <a:pPr marL="76200" indent="0" algn="ctr">
              <a:buNone/>
            </a:pPr>
            <a:endParaRPr lang="en-US" dirty="0"/>
          </a:p>
          <a:p>
            <a:pPr marL="76200" indent="0" algn="ctr">
              <a:buNone/>
            </a:pPr>
            <a:endParaRPr lang="en-US" dirty="0"/>
          </a:p>
          <a:p>
            <a:pPr marL="76200" indent="0" algn="ctr">
              <a:buNone/>
            </a:pPr>
            <a:endParaRPr lang="en-US" dirty="0"/>
          </a:p>
          <a:p>
            <a:pPr marL="76200" indent="0" algn="ctr">
              <a:buNone/>
            </a:pPr>
            <a:endParaRPr lang="en-US" dirty="0"/>
          </a:p>
          <a:p>
            <a:pPr marL="76200" indent="0" algn="ctr">
              <a:buNone/>
            </a:pPr>
            <a:r>
              <a:rPr lang="en-US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 smtClean="0"/>
              <a:t>33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859576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1416</Words>
  <Application>Microsoft Office PowerPoint</Application>
  <PresentationFormat>Widescreen</PresentationFormat>
  <Paragraphs>419</Paragraphs>
  <Slides>33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Helvetica Neue</vt:lpstr>
      <vt:lpstr>quote-cjk-patch</vt:lpstr>
      <vt:lpstr>Helvetica Neue Light</vt:lpstr>
      <vt:lpstr>Times</vt:lpstr>
      <vt:lpstr>Arial</vt:lpstr>
      <vt:lpstr>Cambria Math</vt:lpstr>
      <vt:lpstr>Wingdings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Problem Formulation</vt:lpstr>
      <vt:lpstr>Problem Formulation</vt:lpstr>
      <vt:lpstr>PowerPoint Presentation</vt:lpstr>
      <vt:lpstr>Mathematical Model- Random Variables</vt:lpstr>
      <vt:lpstr>Mathematical Model-Distribution Derivation </vt:lpstr>
      <vt:lpstr>Mathematical Model-Distribution Derivation </vt:lpstr>
      <vt:lpstr>Mathematical Model-VaR Definition </vt:lpstr>
      <vt:lpstr>PowerPoint Presentation</vt:lpstr>
      <vt:lpstr>PowerPoint Presentation</vt:lpstr>
      <vt:lpstr>Deterministic Approach - Overview</vt:lpstr>
      <vt:lpstr>Deterministic Approach -Pipeline</vt:lpstr>
      <vt:lpstr>Deterministic Approach- Implementation</vt:lpstr>
      <vt:lpstr>Deterministic Approach- Implementation</vt:lpstr>
      <vt:lpstr>Deterministic Approach- Results</vt:lpstr>
      <vt:lpstr>Deterministic Approach- Results</vt:lpstr>
      <vt:lpstr>PowerPoint Presentation</vt:lpstr>
      <vt:lpstr>Randomized Approach - Motivation</vt:lpstr>
      <vt:lpstr>Randomized Approach- Algorithm Design</vt:lpstr>
      <vt:lpstr>Randomized Approach- Algorithm Design</vt:lpstr>
      <vt:lpstr>Results – Distribution Comparison</vt:lpstr>
      <vt:lpstr>VaR Estimates Comparison</vt:lpstr>
      <vt:lpstr>Backtesting Analysis</vt:lpstr>
      <vt:lpstr>Backtesting (Deterministic and Monte Carlo) Interpretation</vt:lpstr>
      <vt:lpstr>Model Diagnostics Results</vt:lpstr>
      <vt:lpstr>Inference – Domain Perspective</vt:lpstr>
      <vt:lpstr>Inference – Computer Science Perspective </vt:lpstr>
      <vt:lpstr>Summary &amp; Conclusion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Manisha Patel</cp:lastModifiedBy>
  <cp:revision>64</cp:revision>
  <dcterms:created xsi:type="dcterms:W3CDTF">2019-05-10T05:56:50Z</dcterms:created>
  <dcterms:modified xsi:type="dcterms:W3CDTF">2026-04-07T16:09:17Z</dcterms:modified>
</cp:coreProperties>
</file>